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4"/>
        </a:solidFill>
      </p:bgPr>
    </p:bg>
    <p:spTree>
      <p:nvGrpSpPr>
        <p:cNvPr id="1" name=""/>
        <p:cNvGrpSpPr/>
        <p:nvPr/>
      </p:nvGrpSpPr>
      <p:grpSpPr>
        <a:xfrm>
          <a:off x="0" y="0"/>
          <a:ext cx="0" cy="0"/>
          <a:chOff x="0" y="0"/>
          <a:chExt cx="0" cy="0"/>
        </a:xfrm>
      </p:grpSpPr>
      <p:sp>
        <p:nvSpPr>
          <p:cNvPr id="2" name="Shape 0"/>
          <p:cNvSpPr/>
          <p:nvPr/>
        </p:nvSpPr>
        <p:spPr>
          <a:xfrm>
            <a:off x="8778240" y="0"/>
            <a:ext cx="3413455" cy="6858000"/>
          </a:xfrm>
          <a:prstGeom prst="rect">
            <a:avLst/>
          </a:prstGeom>
          <a:solidFill>
            <a:srgbClr val="1C1C1C"/>
          </a:solidFill>
          <a:ln w="12700">
            <a:solidFill>
              <a:srgbClr val="1C1C1C"/>
            </a:solidFill>
            <a:prstDash val="solid"/>
          </a:ln>
        </p:spPr>
      </p:sp>
      <p:sp>
        <p:nvSpPr>
          <p:cNvPr id="3" name="Shape 1"/>
          <p:cNvSpPr/>
          <p:nvPr/>
        </p:nvSpPr>
        <p:spPr>
          <a:xfrm>
            <a:off x="8778240" y="0"/>
            <a:ext cx="146304" cy="6858000"/>
          </a:xfrm>
          <a:prstGeom prst="rect">
            <a:avLst/>
          </a:prstGeom>
          <a:solidFill>
            <a:srgbClr val="00B29C"/>
          </a:solidFill>
          <a:ln w="12700">
            <a:solidFill>
              <a:srgbClr val="00B29C"/>
            </a:solidFill>
            <a:prstDash val="solid"/>
          </a:ln>
        </p:spPr>
      </p:sp>
      <p:sp>
        <p:nvSpPr>
          <p:cNvPr id="4" name="Shape 2"/>
          <p:cNvSpPr/>
          <p:nvPr/>
        </p:nvSpPr>
        <p:spPr>
          <a:xfrm>
            <a:off x="10515600" y="0"/>
            <a:ext cx="1676095" cy="2194560"/>
          </a:xfrm>
          <a:prstGeom prst="rect">
            <a:avLst/>
          </a:prstGeom>
          <a:solidFill>
            <a:srgbClr val="9F71AF"/>
          </a:solidFill>
          <a:ln w="12700">
            <a:solidFill>
              <a:srgbClr val="9F71AF"/>
            </a:solidFill>
            <a:prstDash val="solid"/>
          </a:ln>
        </p:spPr>
      </p:sp>
      <p:sp>
        <p:nvSpPr>
          <p:cNvPr id="5" name="Shape 3"/>
          <p:cNvSpPr/>
          <p:nvPr/>
        </p:nvSpPr>
        <p:spPr>
          <a:xfrm>
            <a:off x="9692640" y="4206240"/>
            <a:ext cx="2499055" cy="2651760"/>
          </a:xfrm>
          <a:prstGeom prst="rect">
            <a:avLst/>
          </a:prstGeom>
          <a:solidFill>
            <a:srgbClr val="D66157"/>
          </a:solidFill>
          <a:ln w="12700">
            <a:solidFill>
              <a:srgbClr val="D66157"/>
            </a:solidFill>
            <a:prstDash val="solid"/>
          </a:ln>
        </p:spPr>
      </p:sp>
      <p:sp>
        <p:nvSpPr>
          <p:cNvPr id="6" name="Shape 4"/>
          <p:cNvSpPr/>
          <p:nvPr/>
        </p:nvSpPr>
        <p:spPr>
          <a:xfrm>
            <a:off x="9006840" y="2377440"/>
            <a:ext cx="1188720" cy="1463040"/>
          </a:xfrm>
          <a:prstGeom prst="rect">
            <a:avLst/>
          </a:prstGeom>
          <a:solidFill>
            <a:srgbClr val="FBAD25"/>
          </a:solidFill>
          <a:ln w="12700">
            <a:solidFill>
              <a:srgbClr val="FBAD25"/>
            </a:solidFill>
            <a:prstDash val="solid"/>
          </a:ln>
        </p:spPr>
      </p:sp>
      <p:sp>
        <p:nvSpPr>
          <p:cNvPr id="7" name="Shape 5"/>
          <p:cNvSpPr/>
          <p:nvPr/>
        </p:nvSpPr>
        <p:spPr>
          <a:xfrm>
            <a:off x="11155680" y="2606040"/>
            <a:ext cx="914400" cy="1097280"/>
          </a:xfrm>
          <a:prstGeom prst="rect">
            <a:avLst/>
          </a:prstGeom>
          <a:solidFill>
            <a:srgbClr val="FF7BAD"/>
          </a:solidFill>
          <a:ln w="12700">
            <a:solidFill>
              <a:srgbClr val="FF7BAD"/>
            </a:solidFill>
            <a:prstDash val="solid"/>
          </a:ln>
        </p:spPr>
      </p:sp>
      <p:pic>
        <p:nvPicPr>
          <p:cNvPr id="8" name="Image 0" descr="GHOSTSignal">    </p:cNvPr>
          <p:cNvPicPr>
            <a:picLocks noChangeAspect="1"/>
          </p:cNvPicPr>
          <p:nvPr/>
        </p:nvPicPr>
        <p:blipFill>
          <a:blip r:embed="rId1"/>
          <a:stretch>
            <a:fillRect/>
          </a:stretch>
        </p:blipFill>
        <p:spPr>
          <a:xfrm>
            <a:off x="640080" y="502920"/>
            <a:ext cx="2377440" cy="475488"/>
          </a:xfrm>
          <a:prstGeom prst="rect">
            <a:avLst/>
          </a:prstGeom>
        </p:spPr>
      </p:pic>
      <p:sp>
        <p:nvSpPr>
          <p:cNvPr id="9" name="Text 6"/>
          <p:cNvSpPr/>
          <p:nvPr/>
        </p:nvSpPr>
        <p:spPr>
          <a:xfrm>
            <a:off x="640080" y="1965960"/>
            <a:ext cx="7315200" cy="365760"/>
          </a:xfrm>
          <a:prstGeom prst="rect">
            <a:avLst/>
          </a:prstGeom>
          <a:noFill/>
          <a:ln/>
        </p:spPr>
        <p:txBody>
          <a:bodyPr wrap="square" lIns="0" tIns="0" rIns="0" bIns="0" rtlCol="0" anchor="ctr"/>
          <a:lstStyle/>
          <a:p>
            <a:pPr indent="0" marL="0">
              <a:buNone/>
            </a:pPr>
            <a:r>
              <a:rPr lang="en-US" sz="1600" spc="400" kern="0" dirty="0">
                <a:solidFill>
                  <a:srgbClr val="00B29C"/>
                </a:solidFill>
                <a:latin typeface="Arial" pitchFamily="34" charset="0"/>
                <a:ea typeface="Arial" pitchFamily="34" charset="-122"/>
                <a:cs typeface="Arial" pitchFamily="34" charset="-120"/>
              </a:rPr>
              <a:t>BRAND PROPOSAL  ·  V1</a:t>
            </a:r>
            <a:endParaRPr lang="en-US" sz="1600" dirty="0"/>
          </a:p>
        </p:txBody>
      </p:sp>
      <p:sp>
        <p:nvSpPr>
          <p:cNvPr id="10" name="Text 7"/>
          <p:cNvSpPr/>
          <p:nvPr/>
        </p:nvSpPr>
        <p:spPr>
          <a:xfrm>
            <a:off x="640080" y="2423160"/>
            <a:ext cx="7315200" cy="914400"/>
          </a:xfrm>
          <a:prstGeom prst="rect">
            <a:avLst/>
          </a:prstGeom>
          <a:noFill/>
          <a:ln/>
        </p:spPr>
        <p:txBody>
          <a:bodyPr wrap="square" lIns="0" tIns="0" rIns="0" bIns="0" rtlCol="0" anchor="ctr"/>
          <a:lstStyle/>
          <a:p>
            <a:pPr indent="0" marL="0">
              <a:buNone/>
            </a:pPr>
            <a:r>
              <a:rPr lang="en-US" sz="6000" dirty="0">
                <a:solidFill>
                  <a:srgbClr val="FFFFFF"/>
                </a:solidFill>
                <a:latin typeface="Georgia" pitchFamily="34" charset="0"/>
                <a:ea typeface="Georgia" pitchFamily="34" charset="-122"/>
                <a:cs typeface="Georgia" pitchFamily="34" charset="-120"/>
              </a:rPr>
              <a:t>Holly Mackle</a:t>
            </a:r>
            <a:endParaRPr lang="en-US" sz="6000" dirty="0"/>
          </a:p>
        </p:txBody>
      </p:sp>
      <p:sp>
        <p:nvSpPr>
          <p:cNvPr id="11" name="Text 8"/>
          <p:cNvSpPr/>
          <p:nvPr/>
        </p:nvSpPr>
        <p:spPr>
          <a:xfrm>
            <a:off x="640080" y="3520440"/>
            <a:ext cx="7315200" cy="914400"/>
          </a:xfrm>
          <a:prstGeom prst="rect">
            <a:avLst/>
          </a:prstGeom>
          <a:noFill/>
          <a:ln/>
        </p:spPr>
        <p:txBody>
          <a:bodyPr wrap="square" lIns="0" tIns="0" rIns="0" bIns="0" rtlCol="0" anchor="ctr"/>
          <a:lstStyle/>
          <a:p>
            <a:pPr indent="0" marL="0">
              <a:buNone/>
            </a:pPr>
            <a:r>
              <a:rPr lang="en-US" sz="2200" dirty="0">
                <a:solidFill>
                  <a:srgbClr val="D6D0C8"/>
                </a:solidFill>
                <a:latin typeface="Arial" pitchFamily="34" charset="0"/>
                <a:ea typeface="Arial" pitchFamily="34" charset="-122"/>
                <a:cs typeface="Arial" pitchFamily="34" charset="-120"/>
              </a:rPr>
              <a:t>A clear brand strategy, visual identity,</a:t>
            </a:r>
            <a:endParaRPr lang="en-US" sz="2200" dirty="0"/>
          </a:p>
          <a:p>
            <a:pPr indent="0" marL="0">
              <a:buNone/>
            </a:pPr>
            <a:r>
              <a:rPr lang="en-US" sz="2200" dirty="0">
                <a:solidFill>
                  <a:srgbClr val="D6D0C8"/>
                </a:solidFill>
                <a:latin typeface="Arial" pitchFamily="34" charset="0"/>
                <a:ea typeface="Arial" pitchFamily="34" charset="-122"/>
                <a:cs typeface="Arial" pitchFamily="34" charset="-120"/>
              </a:rPr>
              <a:t>and singular hub for everything she offers.</a:t>
            </a:r>
            <a:endParaRPr lang="en-US" sz="2200" dirty="0"/>
          </a:p>
        </p:txBody>
      </p:sp>
      <p:sp>
        <p:nvSpPr>
          <p:cNvPr id="12" name="Text 9"/>
          <p:cNvSpPr/>
          <p:nvPr/>
        </p:nvSpPr>
        <p:spPr>
          <a:xfrm>
            <a:off x="640080" y="5989320"/>
            <a:ext cx="7315200" cy="320040"/>
          </a:xfrm>
          <a:prstGeom prst="rect">
            <a:avLst/>
          </a:prstGeom>
          <a:noFill/>
          <a:ln/>
        </p:spPr>
        <p:txBody>
          <a:bodyPr wrap="square" lIns="0" tIns="0" rIns="0" bIns="0" rtlCol="0" anchor="ctr"/>
          <a:lstStyle/>
          <a:p>
            <a:pPr indent="0" marL="0">
              <a:buNone/>
            </a:pPr>
            <a:r>
              <a:rPr lang="en-US" sz="1400" dirty="0">
                <a:solidFill>
                  <a:srgbClr val="8A847C"/>
                </a:solidFill>
                <a:latin typeface="Arial" pitchFamily="34" charset="0"/>
                <a:ea typeface="Arial" pitchFamily="34" charset="-122"/>
                <a:cs typeface="Arial" pitchFamily="34" charset="-120"/>
              </a:rPr>
              <a:t>Prepared by GHOSTSignal  ·  jeremy@ghostsignal.cloud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5"/>
        </a:solidFill>
      </p:bgPr>
    </p:bg>
    <p:spTree>
      <p:nvGrpSpPr>
        <p:cNvPr id="1" name=""/>
        <p:cNvGrpSpPr/>
        <p:nvPr/>
      </p:nvGrpSpPr>
      <p:grpSpPr>
        <a:xfrm>
          <a:off x="0" y="0"/>
          <a:ext cx="0" cy="0"/>
          <a:chOff x="0" y="0"/>
          <a:chExt cx="0" cy="0"/>
        </a:xfrm>
      </p:grpSpPr>
      <p:pic>
        <p:nvPicPr>
          <p:cNvPr id="2" name="Image 0" descr="GHOSTSignal">    </p:cNvPr>
          <p:cNvPicPr>
            <a:picLocks noChangeAspect="1"/>
          </p:cNvPicPr>
          <p:nvPr/>
        </p:nvPicPr>
        <p:blipFill>
          <a:blip r:embed="rId1"/>
          <a:stretch>
            <a:fillRect/>
          </a:stretch>
        </p:blipFill>
        <p:spPr>
          <a:xfrm>
            <a:off x="640080" y="411480"/>
            <a:ext cx="2011680" cy="402336"/>
          </a:xfrm>
          <a:prstGeom prst="rect">
            <a:avLst/>
          </a:prstGeom>
        </p:spPr>
      </p:pic>
      <p:sp>
        <p:nvSpPr>
          <p:cNvPr id="3" name="Text 0"/>
          <p:cNvSpPr/>
          <p:nvPr/>
        </p:nvSpPr>
        <p:spPr>
          <a:xfrm>
            <a:off x="640080" y="1097280"/>
            <a:ext cx="10515600" cy="320040"/>
          </a:xfrm>
          <a:prstGeom prst="rect">
            <a:avLst/>
          </a:prstGeom>
          <a:noFill/>
          <a:ln/>
        </p:spPr>
        <p:txBody>
          <a:bodyPr wrap="square" lIns="0" tIns="0" rIns="0" bIns="0" rtlCol="0" anchor="ctr"/>
          <a:lstStyle/>
          <a:p>
            <a:pPr indent="0" marL="0">
              <a:buNone/>
            </a:pPr>
            <a:r>
              <a:rPr lang="en-US" sz="1400" spc="400" kern="0" dirty="0">
                <a:solidFill>
                  <a:srgbClr val="00B29C"/>
                </a:solidFill>
                <a:latin typeface="Arial" pitchFamily="34" charset="0"/>
                <a:ea typeface="Arial" pitchFamily="34" charset="-122"/>
                <a:cs typeface="Arial" pitchFamily="34" charset="-120"/>
              </a:rPr>
              <a:t>THE OPPORTUNITY</a:t>
            </a:r>
            <a:endParaRPr lang="en-US" sz="1400" dirty="0"/>
          </a:p>
        </p:txBody>
      </p:sp>
      <p:sp>
        <p:nvSpPr>
          <p:cNvPr id="4" name="Text 1"/>
          <p:cNvSpPr/>
          <p:nvPr/>
        </p:nvSpPr>
        <p:spPr>
          <a:xfrm>
            <a:off x="640080" y="1554480"/>
            <a:ext cx="10881360" cy="1828800"/>
          </a:xfrm>
          <a:prstGeom prst="rect">
            <a:avLst/>
          </a:prstGeom>
          <a:noFill/>
          <a:ln/>
        </p:spPr>
        <p:txBody>
          <a:bodyPr wrap="square" lIns="0" tIns="0" rIns="0" bIns="0" rtlCol="0" anchor="ctr"/>
          <a:lstStyle/>
          <a:p>
            <a:pPr indent="0" marL="0">
              <a:buNone/>
            </a:pPr>
            <a:r>
              <a:rPr lang="en-US" sz="2400" dirty="0">
                <a:solidFill>
                  <a:srgbClr val="141414"/>
                </a:solidFill>
                <a:latin typeface="Georgia" pitchFamily="34" charset="0"/>
                <a:ea typeface="Georgia" pitchFamily="34" charset="-122"/>
                <a:cs typeface="Georgia" pitchFamily="34" charset="-120"/>
              </a:rPr>
              <a:t>Holly Mackle is a writer, podcaster, former-librarian book-recommender, and all-around force for joy in the world. Holly is at an important inflection point: having built a strong following and collection of products, Holly deserves a clear brand strategy to organize all her efforts, giving her audience a singular hub and touchpoint.</a:t>
            </a:r>
            <a:endParaRPr lang="en-US" sz="2400" dirty="0"/>
          </a:p>
        </p:txBody>
      </p:sp>
      <p:sp>
        <p:nvSpPr>
          <p:cNvPr id="5" name="Shape 2"/>
          <p:cNvSpPr/>
          <p:nvPr/>
        </p:nvSpPr>
        <p:spPr>
          <a:xfrm>
            <a:off x="640080" y="3657600"/>
            <a:ext cx="91440" cy="2011680"/>
          </a:xfrm>
          <a:prstGeom prst="rect">
            <a:avLst/>
          </a:prstGeom>
          <a:solidFill>
            <a:srgbClr val="9F71AF"/>
          </a:solidFill>
          <a:ln w="12700">
            <a:solidFill>
              <a:srgbClr val="9F71AF"/>
            </a:solidFill>
            <a:prstDash val="solid"/>
          </a:ln>
        </p:spPr>
      </p:sp>
      <p:sp>
        <p:nvSpPr>
          <p:cNvPr id="6" name="Text 3"/>
          <p:cNvSpPr/>
          <p:nvPr/>
        </p:nvSpPr>
        <p:spPr>
          <a:xfrm>
            <a:off x="960120" y="3657600"/>
            <a:ext cx="10515600" cy="2011680"/>
          </a:xfrm>
          <a:prstGeom prst="rect">
            <a:avLst/>
          </a:prstGeom>
          <a:noFill/>
          <a:ln/>
        </p:spPr>
        <p:txBody>
          <a:bodyPr wrap="square" lIns="0" tIns="0" rIns="0" bIns="0" rtlCol="0" anchor="ctr"/>
          <a:lstStyle/>
          <a:p>
            <a:pPr indent="0" marL="0">
              <a:buNone/>
            </a:pPr>
            <a:r>
              <a:rPr lang="en-US" sz="1800" dirty="0">
                <a:solidFill>
                  <a:srgbClr val="6B6560"/>
                </a:solidFill>
                <a:latin typeface="Arial" pitchFamily="34" charset="0"/>
                <a:ea typeface="Arial" pitchFamily="34" charset="-122"/>
                <a:cs typeface="Arial" pitchFamily="34" charset="-120"/>
              </a:rPr>
              <a:t>GHOSTSignal loves to help people clarify themselves through strategy and visuals that generate real connection. Through deep listening and targeted design, we help clients map a path to their brand’s future. We are honored to offer this proposal, and appreciate the opportunity.</a:t>
            </a:r>
            <a:endParaRPr lang="en-US" sz="1800" dirty="0"/>
          </a:p>
        </p:txBody>
      </p:sp>
      <p:sp>
        <p:nvSpPr>
          <p:cNvPr id="7" name="Text 4"/>
          <p:cNvSpPr/>
          <p:nvPr/>
        </p:nvSpPr>
        <p:spPr>
          <a:xfrm>
            <a:off x="640080" y="6309360"/>
            <a:ext cx="5486400" cy="228600"/>
          </a:xfrm>
          <a:prstGeom prst="rect">
            <a:avLst/>
          </a:prstGeom>
          <a:noFill/>
          <a:ln/>
        </p:spPr>
        <p:txBody>
          <a:bodyPr wrap="square" lIns="0" tIns="0" rIns="0" bIns="0" rtlCol="0" anchor="ctr"/>
          <a:lstStyle/>
          <a:p>
            <a:pPr indent="0" marL="0">
              <a:buNone/>
            </a:pPr>
            <a:r>
              <a:rPr lang="en-US" sz="1100" spc="200" kern="0" dirty="0">
                <a:solidFill>
                  <a:srgbClr val="6B6560"/>
                </a:solidFill>
                <a:latin typeface="Arial" pitchFamily="34" charset="0"/>
                <a:ea typeface="Arial" pitchFamily="34" charset="-122"/>
                <a:cs typeface="Arial" pitchFamily="34" charset="-120"/>
              </a:rPr>
              <a:t>GHOSTSIGNAL  ·  PROPOSAL V1</a:t>
            </a:r>
            <a:endParaRPr lang="en-US" sz="1100" dirty="0"/>
          </a:p>
        </p:txBody>
      </p:sp>
      <p:sp>
        <p:nvSpPr>
          <p:cNvPr id="8" name="Text 5"/>
          <p:cNvSpPr/>
          <p:nvPr/>
        </p:nvSpPr>
        <p:spPr>
          <a:xfrm>
            <a:off x="10271455" y="6309360"/>
            <a:ext cx="1280160" cy="228600"/>
          </a:xfrm>
          <a:prstGeom prst="rect">
            <a:avLst/>
          </a:prstGeom>
          <a:noFill/>
          <a:ln/>
        </p:spPr>
        <p:txBody>
          <a:bodyPr wrap="square" lIns="0" tIns="0" rIns="0" bIns="0" rtlCol="0" anchor="ctr"/>
          <a:lstStyle/>
          <a:p>
            <a:pPr algn="r" indent="0" marL="0">
              <a:buNone/>
            </a:pPr>
            <a:r>
              <a:rPr lang="en-US" sz="1100" b="1" dirty="0">
                <a:solidFill>
                  <a:srgbClr val="6B6560"/>
                </a:solidFill>
                <a:latin typeface="Arial" pitchFamily="34" charset="0"/>
                <a:ea typeface="Arial" pitchFamily="34" charset="-122"/>
                <a:cs typeface="Arial" pitchFamily="34" charset="-120"/>
              </a:rPr>
              <a:t>02 / 06</a:t>
            </a:r>
            <a:endParaRPr lang="en-US" sz="1100" dirty="0"/>
          </a:p>
        </p:txBody>
      </p:sp>
      <p:sp>
        <p:nvSpPr>
          <p:cNvPr id="9" name="Shape 6"/>
          <p:cNvSpPr/>
          <p:nvPr/>
        </p:nvSpPr>
        <p:spPr>
          <a:xfrm>
            <a:off x="0" y="6583680"/>
            <a:ext cx="2438339" cy="274320"/>
          </a:xfrm>
          <a:prstGeom prst="rect">
            <a:avLst/>
          </a:prstGeom>
          <a:solidFill>
            <a:srgbClr val="D66157"/>
          </a:solidFill>
          <a:ln w="12700">
            <a:solidFill>
              <a:srgbClr val="D66157"/>
            </a:solidFill>
            <a:prstDash val="solid"/>
          </a:ln>
        </p:spPr>
      </p:sp>
      <p:sp>
        <p:nvSpPr>
          <p:cNvPr id="10" name="Shape 7"/>
          <p:cNvSpPr/>
          <p:nvPr/>
        </p:nvSpPr>
        <p:spPr>
          <a:xfrm>
            <a:off x="2438339" y="6583680"/>
            <a:ext cx="2438339" cy="274320"/>
          </a:xfrm>
          <a:prstGeom prst="rect">
            <a:avLst/>
          </a:prstGeom>
          <a:solidFill>
            <a:srgbClr val="9F71AF"/>
          </a:solidFill>
          <a:ln w="12700">
            <a:solidFill>
              <a:srgbClr val="9F71AF"/>
            </a:solidFill>
            <a:prstDash val="solid"/>
          </a:ln>
        </p:spPr>
      </p:sp>
      <p:sp>
        <p:nvSpPr>
          <p:cNvPr id="11" name="Shape 8"/>
          <p:cNvSpPr/>
          <p:nvPr/>
        </p:nvSpPr>
        <p:spPr>
          <a:xfrm>
            <a:off x="4876678" y="6583680"/>
            <a:ext cx="2438339" cy="274320"/>
          </a:xfrm>
          <a:prstGeom prst="rect">
            <a:avLst/>
          </a:prstGeom>
          <a:solidFill>
            <a:srgbClr val="00B29C"/>
          </a:solidFill>
          <a:ln w="12700">
            <a:solidFill>
              <a:srgbClr val="00B29C"/>
            </a:solidFill>
            <a:prstDash val="solid"/>
          </a:ln>
        </p:spPr>
      </p:sp>
      <p:sp>
        <p:nvSpPr>
          <p:cNvPr id="12" name="Shape 9"/>
          <p:cNvSpPr/>
          <p:nvPr/>
        </p:nvSpPr>
        <p:spPr>
          <a:xfrm>
            <a:off x="7315017" y="6583680"/>
            <a:ext cx="2438339" cy="274320"/>
          </a:xfrm>
          <a:prstGeom prst="rect">
            <a:avLst/>
          </a:prstGeom>
          <a:solidFill>
            <a:srgbClr val="FF7BAD"/>
          </a:solidFill>
          <a:ln w="12700">
            <a:solidFill>
              <a:srgbClr val="FF7BAD"/>
            </a:solidFill>
            <a:prstDash val="solid"/>
          </a:ln>
        </p:spPr>
      </p:sp>
      <p:sp>
        <p:nvSpPr>
          <p:cNvPr id="13" name="Shape 10"/>
          <p:cNvSpPr/>
          <p:nvPr/>
        </p:nvSpPr>
        <p:spPr>
          <a:xfrm>
            <a:off x="9753356" y="6583680"/>
            <a:ext cx="2438339" cy="274320"/>
          </a:xfrm>
          <a:prstGeom prst="rect">
            <a:avLst/>
          </a:prstGeom>
          <a:solidFill>
            <a:srgbClr val="FBAD25"/>
          </a:solidFill>
          <a:ln w="12700">
            <a:solidFill>
              <a:srgbClr val="FBAD25"/>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40080" y="365760"/>
            <a:ext cx="10058400" cy="274320"/>
          </a:xfrm>
          <a:prstGeom prst="rect">
            <a:avLst/>
          </a:prstGeom>
          <a:noFill/>
          <a:ln/>
        </p:spPr>
        <p:txBody>
          <a:bodyPr wrap="square" lIns="0" tIns="0" rIns="0" bIns="0" rtlCol="0" anchor="ctr"/>
          <a:lstStyle/>
          <a:p>
            <a:pPr indent="0" marL="0">
              <a:buNone/>
            </a:pPr>
            <a:r>
              <a:rPr lang="en-US" sz="1400" spc="400" kern="0" dirty="0">
                <a:solidFill>
                  <a:srgbClr val="00B29C"/>
                </a:solidFill>
                <a:latin typeface="Arial" pitchFamily="34" charset="0"/>
                <a:ea typeface="Arial" pitchFamily="34" charset="-122"/>
                <a:cs typeface="Arial" pitchFamily="34" charset="-120"/>
              </a:rPr>
              <a:t>THE WORK</a:t>
            </a:r>
            <a:endParaRPr lang="en-US" sz="1400" dirty="0"/>
          </a:p>
        </p:txBody>
      </p:sp>
      <p:sp>
        <p:nvSpPr>
          <p:cNvPr id="3" name="Text 1"/>
          <p:cNvSpPr/>
          <p:nvPr/>
        </p:nvSpPr>
        <p:spPr>
          <a:xfrm>
            <a:off x="640080" y="685800"/>
            <a:ext cx="10058400" cy="502920"/>
          </a:xfrm>
          <a:prstGeom prst="rect">
            <a:avLst/>
          </a:prstGeom>
          <a:noFill/>
          <a:ln/>
        </p:spPr>
        <p:txBody>
          <a:bodyPr wrap="square" lIns="0" tIns="0" rIns="0" bIns="0" rtlCol="0" anchor="ctr"/>
          <a:lstStyle/>
          <a:p>
            <a:pPr indent="0" marL="0">
              <a:buNone/>
            </a:pPr>
            <a:r>
              <a:rPr lang="en-US" sz="3600" dirty="0">
                <a:solidFill>
                  <a:srgbClr val="141414"/>
                </a:solidFill>
                <a:latin typeface="Georgia" pitchFamily="34" charset="0"/>
                <a:ea typeface="Georgia" pitchFamily="34" charset="-122"/>
                <a:cs typeface="Georgia" pitchFamily="34" charset="-120"/>
              </a:rPr>
              <a:t>Four connected steps</a:t>
            </a:r>
            <a:endParaRPr lang="en-US" sz="3600" dirty="0"/>
          </a:p>
        </p:txBody>
      </p:sp>
      <p:sp>
        <p:nvSpPr>
          <p:cNvPr id="4" name="Shape 2"/>
          <p:cNvSpPr/>
          <p:nvPr/>
        </p:nvSpPr>
        <p:spPr>
          <a:xfrm>
            <a:off x="640080" y="1417320"/>
            <a:ext cx="2606040" cy="448056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5" name="Shape 3"/>
          <p:cNvSpPr/>
          <p:nvPr/>
        </p:nvSpPr>
        <p:spPr>
          <a:xfrm>
            <a:off x="640080" y="1417320"/>
            <a:ext cx="2606040" cy="128016"/>
          </a:xfrm>
          <a:prstGeom prst="rect">
            <a:avLst/>
          </a:prstGeom>
          <a:solidFill>
            <a:srgbClr val="00B29C"/>
          </a:solidFill>
          <a:ln w="12700">
            <a:solidFill>
              <a:srgbClr val="00B29C"/>
            </a:solidFill>
            <a:prstDash val="solid"/>
          </a:ln>
        </p:spPr>
      </p:sp>
      <p:sp>
        <p:nvSpPr>
          <p:cNvPr id="6" name="Text 4"/>
          <p:cNvSpPr/>
          <p:nvPr/>
        </p:nvSpPr>
        <p:spPr>
          <a:xfrm>
            <a:off x="841248" y="1783080"/>
            <a:ext cx="2203704" cy="411480"/>
          </a:xfrm>
          <a:prstGeom prst="rect">
            <a:avLst/>
          </a:prstGeom>
          <a:noFill/>
          <a:ln/>
        </p:spPr>
        <p:txBody>
          <a:bodyPr wrap="square" lIns="0" tIns="0" rIns="0" bIns="0" rtlCol="0" anchor="ctr"/>
          <a:lstStyle/>
          <a:p>
            <a:pPr indent="0" marL="0">
              <a:buNone/>
            </a:pPr>
            <a:r>
              <a:rPr lang="en-US" sz="2800" b="1" dirty="0">
                <a:solidFill>
                  <a:srgbClr val="00B29C"/>
                </a:solidFill>
                <a:latin typeface="Arial" pitchFamily="34" charset="0"/>
                <a:ea typeface="Arial" pitchFamily="34" charset="-122"/>
                <a:cs typeface="Arial" pitchFamily="34" charset="-120"/>
              </a:rPr>
              <a:t>01</a:t>
            </a:r>
            <a:endParaRPr lang="en-US" sz="2800" dirty="0"/>
          </a:p>
        </p:txBody>
      </p:sp>
      <p:sp>
        <p:nvSpPr>
          <p:cNvPr id="7" name="Text 5"/>
          <p:cNvSpPr/>
          <p:nvPr/>
        </p:nvSpPr>
        <p:spPr>
          <a:xfrm>
            <a:off x="841248" y="2331720"/>
            <a:ext cx="2203704" cy="1005840"/>
          </a:xfrm>
          <a:prstGeom prst="rect">
            <a:avLst/>
          </a:prstGeom>
          <a:noFill/>
          <a:ln/>
        </p:spPr>
        <p:txBody>
          <a:bodyPr wrap="square" lIns="0" tIns="0" rIns="0" bIns="0" rtlCol="0" anchor="ctr"/>
          <a:lstStyle/>
          <a:p>
            <a:pPr indent="0" marL="0">
              <a:buNone/>
            </a:pPr>
            <a:r>
              <a:rPr lang="en-US" sz="2200" dirty="0">
                <a:solidFill>
                  <a:srgbClr val="141414"/>
                </a:solidFill>
                <a:latin typeface="Georgia" pitchFamily="34" charset="0"/>
                <a:ea typeface="Georgia" pitchFamily="34" charset="-122"/>
                <a:cs typeface="Georgia" pitchFamily="34" charset="-120"/>
              </a:rPr>
              <a:t>Discovery</a:t>
            </a:r>
            <a:endParaRPr lang="en-US" sz="2200" dirty="0"/>
          </a:p>
        </p:txBody>
      </p:sp>
      <p:sp>
        <p:nvSpPr>
          <p:cNvPr id="8" name="Text 6"/>
          <p:cNvSpPr/>
          <p:nvPr/>
        </p:nvSpPr>
        <p:spPr>
          <a:xfrm>
            <a:off x="841248" y="3520440"/>
            <a:ext cx="2203704" cy="2011680"/>
          </a:xfrm>
          <a:prstGeom prst="rect">
            <a:avLst/>
          </a:prstGeom>
          <a:noFill/>
          <a:ln/>
        </p:spPr>
        <p:txBody>
          <a:bodyPr wrap="square" lIns="0" tIns="0" rIns="0" bIns="0" rtlCol="0" anchor="ctr"/>
          <a:lstStyle/>
          <a:p>
            <a:pPr indent="0" marL="0">
              <a:buNone/>
            </a:pPr>
            <a:r>
              <a:rPr lang="en-US" sz="1500" dirty="0">
                <a:solidFill>
                  <a:srgbClr val="6B6560"/>
                </a:solidFill>
                <a:latin typeface="Arial" pitchFamily="34" charset="0"/>
                <a:ea typeface="Arial" pitchFamily="34" charset="-122"/>
                <a:cs typeface="Arial" pitchFamily="34" charset="-120"/>
              </a:rPr>
              <a:t>Guided conversation to surface hopes and aspirations for the brand’s future.</a:t>
            </a:r>
            <a:endParaRPr lang="en-US" sz="1500" dirty="0"/>
          </a:p>
        </p:txBody>
      </p:sp>
      <p:sp>
        <p:nvSpPr>
          <p:cNvPr id="9" name="Shape 7"/>
          <p:cNvSpPr/>
          <p:nvPr/>
        </p:nvSpPr>
        <p:spPr>
          <a:xfrm>
            <a:off x="3447288" y="1417320"/>
            <a:ext cx="2606040" cy="448056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10" name="Shape 8"/>
          <p:cNvSpPr/>
          <p:nvPr/>
        </p:nvSpPr>
        <p:spPr>
          <a:xfrm>
            <a:off x="3447288" y="1417320"/>
            <a:ext cx="2606040" cy="128016"/>
          </a:xfrm>
          <a:prstGeom prst="rect">
            <a:avLst/>
          </a:prstGeom>
          <a:solidFill>
            <a:srgbClr val="9F71AF"/>
          </a:solidFill>
          <a:ln w="12700">
            <a:solidFill>
              <a:srgbClr val="9F71AF"/>
            </a:solidFill>
            <a:prstDash val="solid"/>
          </a:ln>
        </p:spPr>
      </p:sp>
      <p:sp>
        <p:nvSpPr>
          <p:cNvPr id="11" name="Text 9"/>
          <p:cNvSpPr/>
          <p:nvPr/>
        </p:nvSpPr>
        <p:spPr>
          <a:xfrm>
            <a:off x="3648456" y="1783080"/>
            <a:ext cx="2203704" cy="411480"/>
          </a:xfrm>
          <a:prstGeom prst="rect">
            <a:avLst/>
          </a:prstGeom>
          <a:noFill/>
          <a:ln/>
        </p:spPr>
        <p:txBody>
          <a:bodyPr wrap="square" lIns="0" tIns="0" rIns="0" bIns="0" rtlCol="0" anchor="ctr"/>
          <a:lstStyle/>
          <a:p>
            <a:pPr indent="0" marL="0">
              <a:buNone/>
            </a:pPr>
            <a:r>
              <a:rPr lang="en-US" sz="2800" b="1" dirty="0">
                <a:solidFill>
                  <a:srgbClr val="9F71AF"/>
                </a:solidFill>
                <a:latin typeface="Arial" pitchFamily="34" charset="0"/>
                <a:ea typeface="Arial" pitchFamily="34" charset="-122"/>
                <a:cs typeface="Arial" pitchFamily="34" charset="-120"/>
              </a:rPr>
              <a:t>02</a:t>
            </a:r>
            <a:endParaRPr lang="en-US" sz="2800" dirty="0"/>
          </a:p>
        </p:txBody>
      </p:sp>
      <p:sp>
        <p:nvSpPr>
          <p:cNvPr id="12" name="Text 10"/>
          <p:cNvSpPr/>
          <p:nvPr/>
        </p:nvSpPr>
        <p:spPr>
          <a:xfrm>
            <a:off x="3648456" y="2331720"/>
            <a:ext cx="2203704" cy="1005840"/>
          </a:xfrm>
          <a:prstGeom prst="rect">
            <a:avLst/>
          </a:prstGeom>
          <a:noFill/>
          <a:ln/>
        </p:spPr>
        <p:txBody>
          <a:bodyPr wrap="square" lIns="0" tIns="0" rIns="0" bIns="0" rtlCol="0" anchor="ctr"/>
          <a:lstStyle/>
          <a:p>
            <a:pPr indent="0" marL="0">
              <a:buNone/>
            </a:pPr>
            <a:r>
              <a:rPr lang="en-US" sz="2200" dirty="0">
                <a:solidFill>
                  <a:srgbClr val="141414"/>
                </a:solidFill>
                <a:latin typeface="Georgia" pitchFamily="34" charset="0"/>
                <a:ea typeface="Georgia" pitchFamily="34" charset="-122"/>
                <a:cs typeface="Georgia" pitchFamily="34" charset="-120"/>
              </a:rPr>
              <a:t>Brand Strategy</a:t>
            </a:r>
            <a:endParaRPr lang="en-US" sz="2200" dirty="0"/>
          </a:p>
        </p:txBody>
      </p:sp>
      <p:sp>
        <p:nvSpPr>
          <p:cNvPr id="13" name="Text 11"/>
          <p:cNvSpPr/>
          <p:nvPr/>
        </p:nvSpPr>
        <p:spPr>
          <a:xfrm>
            <a:off x="3648456" y="3520440"/>
            <a:ext cx="2203704" cy="2011680"/>
          </a:xfrm>
          <a:prstGeom prst="rect">
            <a:avLst/>
          </a:prstGeom>
          <a:noFill/>
          <a:ln/>
        </p:spPr>
        <p:txBody>
          <a:bodyPr wrap="square" lIns="0" tIns="0" rIns="0" bIns="0" rtlCol="0" anchor="ctr"/>
          <a:lstStyle/>
          <a:p>
            <a:pPr indent="0" marL="0">
              <a:buNone/>
            </a:pPr>
            <a:r>
              <a:rPr lang="en-US" sz="1500" dirty="0">
                <a:solidFill>
                  <a:srgbClr val="6B6560"/>
                </a:solidFill>
                <a:latin typeface="Arial" pitchFamily="34" charset="0"/>
                <a:ea typeface="Arial" pitchFamily="34" charset="-122"/>
                <a:cs typeface="Arial" pitchFamily="34" charset="-120"/>
              </a:rPr>
              <a:t>A Brand Strategy report: platforms, voice, and recommended growth steps.</a:t>
            </a:r>
            <a:endParaRPr lang="en-US" sz="1500" dirty="0"/>
          </a:p>
        </p:txBody>
      </p:sp>
      <p:sp>
        <p:nvSpPr>
          <p:cNvPr id="14" name="Shape 12"/>
          <p:cNvSpPr/>
          <p:nvPr/>
        </p:nvSpPr>
        <p:spPr>
          <a:xfrm>
            <a:off x="6254496" y="1417320"/>
            <a:ext cx="2606040" cy="448056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15" name="Shape 13"/>
          <p:cNvSpPr/>
          <p:nvPr/>
        </p:nvSpPr>
        <p:spPr>
          <a:xfrm>
            <a:off x="6254496" y="1417320"/>
            <a:ext cx="2606040" cy="128016"/>
          </a:xfrm>
          <a:prstGeom prst="rect">
            <a:avLst/>
          </a:prstGeom>
          <a:solidFill>
            <a:srgbClr val="D66157"/>
          </a:solidFill>
          <a:ln w="12700">
            <a:solidFill>
              <a:srgbClr val="D66157"/>
            </a:solidFill>
            <a:prstDash val="solid"/>
          </a:ln>
        </p:spPr>
      </p:sp>
      <p:sp>
        <p:nvSpPr>
          <p:cNvPr id="16" name="Text 14"/>
          <p:cNvSpPr/>
          <p:nvPr/>
        </p:nvSpPr>
        <p:spPr>
          <a:xfrm>
            <a:off x="6455664" y="1783080"/>
            <a:ext cx="2203704" cy="411480"/>
          </a:xfrm>
          <a:prstGeom prst="rect">
            <a:avLst/>
          </a:prstGeom>
          <a:noFill/>
          <a:ln/>
        </p:spPr>
        <p:txBody>
          <a:bodyPr wrap="square" lIns="0" tIns="0" rIns="0" bIns="0" rtlCol="0" anchor="ctr"/>
          <a:lstStyle/>
          <a:p>
            <a:pPr indent="0" marL="0">
              <a:buNone/>
            </a:pPr>
            <a:r>
              <a:rPr lang="en-US" sz="2800" b="1" dirty="0">
                <a:solidFill>
                  <a:srgbClr val="D66157"/>
                </a:solidFill>
                <a:latin typeface="Arial" pitchFamily="34" charset="0"/>
                <a:ea typeface="Arial" pitchFamily="34" charset="-122"/>
                <a:cs typeface="Arial" pitchFamily="34" charset="-120"/>
              </a:rPr>
              <a:t>03</a:t>
            </a:r>
            <a:endParaRPr lang="en-US" sz="2800" dirty="0"/>
          </a:p>
        </p:txBody>
      </p:sp>
      <p:sp>
        <p:nvSpPr>
          <p:cNvPr id="17" name="Text 15"/>
          <p:cNvSpPr/>
          <p:nvPr/>
        </p:nvSpPr>
        <p:spPr>
          <a:xfrm>
            <a:off x="6455664" y="2331720"/>
            <a:ext cx="2203704" cy="1005840"/>
          </a:xfrm>
          <a:prstGeom prst="rect">
            <a:avLst/>
          </a:prstGeom>
          <a:noFill/>
          <a:ln/>
        </p:spPr>
        <p:txBody>
          <a:bodyPr wrap="square" lIns="0" tIns="0" rIns="0" bIns="0" rtlCol="0" anchor="ctr"/>
          <a:lstStyle/>
          <a:p>
            <a:pPr indent="0" marL="0">
              <a:buNone/>
            </a:pPr>
            <a:r>
              <a:rPr lang="en-US" sz="2200" dirty="0">
                <a:solidFill>
                  <a:srgbClr val="141414"/>
                </a:solidFill>
                <a:latin typeface="Georgia" pitchFamily="34" charset="0"/>
                <a:ea typeface="Georgia" pitchFamily="34" charset="-122"/>
                <a:cs typeface="Georgia" pitchFamily="34" charset="-120"/>
              </a:rPr>
              <a:t>Visual Identity</a:t>
            </a:r>
            <a:endParaRPr lang="en-US" sz="2200" dirty="0"/>
          </a:p>
        </p:txBody>
      </p:sp>
      <p:sp>
        <p:nvSpPr>
          <p:cNvPr id="18" name="Text 16"/>
          <p:cNvSpPr/>
          <p:nvPr/>
        </p:nvSpPr>
        <p:spPr>
          <a:xfrm>
            <a:off x="6455664" y="3520440"/>
            <a:ext cx="2203704" cy="2011680"/>
          </a:xfrm>
          <a:prstGeom prst="rect">
            <a:avLst/>
          </a:prstGeom>
          <a:noFill/>
          <a:ln/>
        </p:spPr>
        <p:txBody>
          <a:bodyPr wrap="square" lIns="0" tIns="0" rIns="0" bIns="0" rtlCol="0" anchor="ctr"/>
          <a:lstStyle/>
          <a:p>
            <a:pPr indent="0" marL="0">
              <a:buNone/>
            </a:pPr>
            <a:r>
              <a:rPr lang="en-US" sz="1500" dirty="0">
                <a:solidFill>
                  <a:srgbClr val="6B6560"/>
                </a:solidFill>
                <a:latin typeface="Arial" pitchFamily="34" charset="0"/>
                <a:ea typeface="Arial" pitchFamily="34" charset="-122"/>
                <a:cs typeface="Arial" pitchFamily="34" charset="-120"/>
              </a:rPr>
              <a:t>Logo, color palette, and fonts — the full visual environment.</a:t>
            </a:r>
            <a:endParaRPr lang="en-US" sz="1500" dirty="0"/>
          </a:p>
        </p:txBody>
      </p:sp>
      <p:sp>
        <p:nvSpPr>
          <p:cNvPr id="19" name="Shape 17"/>
          <p:cNvSpPr/>
          <p:nvPr/>
        </p:nvSpPr>
        <p:spPr>
          <a:xfrm>
            <a:off x="9061704" y="1417320"/>
            <a:ext cx="2606040" cy="448056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20" name="Shape 18"/>
          <p:cNvSpPr/>
          <p:nvPr/>
        </p:nvSpPr>
        <p:spPr>
          <a:xfrm>
            <a:off x="9061704" y="1417320"/>
            <a:ext cx="2606040" cy="128016"/>
          </a:xfrm>
          <a:prstGeom prst="rect">
            <a:avLst/>
          </a:prstGeom>
          <a:solidFill>
            <a:srgbClr val="FBAD25"/>
          </a:solidFill>
          <a:ln w="12700">
            <a:solidFill>
              <a:srgbClr val="FBAD25"/>
            </a:solidFill>
            <a:prstDash val="solid"/>
          </a:ln>
        </p:spPr>
      </p:sp>
      <p:sp>
        <p:nvSpPr>
          <p:cNvPr id="21" name="Text 19"/>
          <p:cNvSpPr/>
          <p:nvPr/>
        </p:nvSpPr>
        <p:spPr>
          <a:xfrm>
            <a:off x="9262872" y="1783080"/>
            <a:ext cx="2203704" cy="411480"/>
          </a:xfrm>
          <a:prstGeom prst="rect">
            <a:avLst/>
          </a:prstGeom>
          <a:noFill/>
          <a:ln/>
        </p:spPr>
        <p:txBody>
          <a:bodyPr wrap="square" lIns="0" tIns="0" rIns="0" bIns="0" rtlCol="0" anchor="ctr"/>
          <a:lstStyle/>
          <a:p>
            <a:pPr indent="0" marL="0">
              <a:buNone/>
            </a:pPr>
            <a:r>
              <a:rPr lang="en-US" sz="2800" b="1" dirty="0">
                <a:solidFill>
                  <a:srgbClr val="FBAD25"/>
                </a:solidFill>
                <a:latin typeface="Arial" pitchFamily="34" charset="0"/>
                <a:ea typeface="Arial" pitchFamily="34" charset="-122"/>
                <a:cs typeface="Arial" pitchFamily="34" charset="-120"/>
              </a:rPr>
              <a:t>04</a:t>
            </a:r>
            <a:endParaRPr lang="en-US" sz="2800" dirty="0"/>
          </a:p>
        </p:txBody>
      </p:sp>
      <p:sp>
        <p:nvSpPr>
          <p:cNvPr id="22" name="Text 20"/>
          <p:cNvSpPr/>
          <p:nvPr/>
        </p:nvSpPr>
        <p:spPr>
          <a:xfrm>
            <a:off x="9262872" y="2331720"/>
            <a:ext cx="2203704" cy="1005840"/>
          </a:xfrm>
          <a:prstGeom prst="rect">
            <a:avLst/>
          </a:prstGeom>
          <a:noFill/>
          <a:ln/>
        </p:spPr>
        <p:txBody>
          <a:bodyPr wrap="square" lIns="0" tIns="0" rIns="0" bIns="0" rtlCol="0" anchor="ctr"/>
          <a:lstStyle/>
          <a:p>
            <a:pPr indent="0" marL="0">
              <a:buNone/>
            </a:pPr>
            <a:r>
              <a:rPr lang="en-US" sz="2200" dirty="0">
                <a:solidFill>
                  <a:srgbClr val="141414"/>
                </a:solidFill>
                <a:latin typeface="Georgia" pitchFamily="34" charset="0"/>
                <a:ea typeface="Georgia" pitchFamily="34" charset="-122"/>
                <a:cs typeface="Georgia" pitchFamily="34" charset="-120"/>
              </a:rPr>
              <a:t>Website + Platform Assets</a:t>
            </a:r>
            <a:endParaRPr lang="en-US" sz="2200" dirty="0"/>
          </a:p>
        </p:txBody>
      </p:sp>
      <p:sp>
        <p:nvSpPr>
          <p:cNvPr id="23" name="Text 21"/>
          <p:cNvSpPr/>
          <p:nvPr/>
        </p:nvSpPr>
        <p:spPr>
          <a:xfrm>
            <a:off x="9262872" y="3520440"/>
            <a:ext cx="2203704" cy="2011680"/>
          </a:xfrm>
          <a:prstGeom prst="rect">
            <a:avLst/>
          </a:prstGeom>
          <a:noFill/>
          <a:ln/>
        </p:spPr>
        <p:txBody>
          <a:bodyPr wrap="square" lIns="0" tIns="0" rIns="0" bIns="0" rtlCol="0" anchor="ctr"/>
          <a:lstStyle/>
          <a:p>
            <a:pPr indent="0" marL="0">
              <a:buNone/>
            </a:pPr>
            <a:r>
              <a:rPr lang="en-US" sz="1500" dirty="0">
                <a:solidFill>
                  <a:srgbClr val="6B6560"/>
                </a:solidFill>
                <a:latin typeface="Arial" pitchFamily="34" charset="0"/>
                <a:ea typeface="Arial" pitchFamily="34" charset="-122"/>
                <a:cs typeface="Arial" pitchFamily="34" charset="-120"/>
              </a:rPr>
              <a:t>A website hub for your offerings, plus assets for cross-platform consistency.</a:t>
            </a:r>
            <a:endParaRPr lang="en-US" sz="1500" dirty="0"/>
          </a:p>
        </p:txBody>
      </p:sp>
      <p:sp>
        <p:nvSpPr>
          <p:cNvPr id="24" name="Shape 22"/>
          <p:cNvSpPr/>
          <p:nvPr/>
        </p:nvSpPr>
        <p:spPr>
          <a:xfrm>
            <a:off x="0" y="6583680"/>
            <a:ext cx="2438339" cy="274320"/>
          </a:xfrm>
          <a:prstGeom prst="rect">
            <a:avLst/>
          </a:prstGeom>
          <a:solidFill>
            <a:srgbClr val="D66157"/>
          </a:solidFill>
          <a:ln w="12700">
            <a:solidFill>
              <a:srgbClr val="D66157"/>
            </a:solidFill>
            <a:prstDash val="solid"/>
          </a:ln>
        </p:spPr>
      </p:sp>
      <p:sp>
        <p:nvSpPr>
          <p:cNvPr id="25" name="Shape 23"/>
          <p:cNvSpPr/>
          <p:nvPr/>
        </p:nvSpPr>
        <p:spPr>
          <a:xfrm>
            <a:off x="2438339" y="6583680"/>
            <a:ext cx="2438339" cy="274320"/>
          </a:xfrm>
          <a:prstGeom prst="rect">
            <a:avLst/>
          </a:prstGeom>
          <a:solidFill>
            <a:srgbClr val="9F71AF"/>
          </a:solidFill>
          <a:ln w="12700">
            <a:solidFill>
              <a:srgbClr val="9F71AF"/>
            </a:solidFill>
            <a:prstDash val="solid"/>
          </a:ln>
        </p:spPr>
      </p:sp>
      <p:sp>
        <p:nvSpPr>
          <p:cNvPr id="26" name="Shape 24"/>
          <p:cNvSpPr/>
          <p:nvPr/>
        </p:nvSpPr>
        <p:spPr>
          <a:xfrm>
            <a:off x="4876678" y="6583680"/>
            <a:ext cx="2438339" cy="274320"/>
          </a:xfrm>
          <a:prstGeom prst="rect">
            <a:avLst/>
          </a:prstGeom>
          <a:solidFill>
            <a:srgbClr val="00B29C"/>
          </a:solidFill>
          <a:ln w="12700">
            <a:solidFill>
              <a:srgbClr val="00B29C"/>
            </a:solidFill>
            <a:prstDash val="solid"/>
          </a:ln>
        </p:spPr>
      </p:sp>
      <p:sp>
        <p:nvSpPr>
          <p:cNvPr id="27" name="Shape 25"/>
          <p:cNvSpPr/>
          <p:nvPr/>
        </p:nvSpPr>
        <p:spPr>
          <a:xfrm>
            <a:off x="7315017" y="6583680"/>
            <a:ext cx="2438339" cy="274320"/>
          </a:xfrm>
          <a:prstGeom prst="rect">
            <a:avLst/>
          </a:prstGeom>
          <a:solidFill>
            <a:srgbClr val="FF7BAD"/>
          </a:solidFill>
          <a:ln w="12700">
            <a:solidFill>
              <a:srgbClr val="FF7BAD"/>
            </a:solidFill>
            <a:prstDash val="solid"/>
          </a:ln>
        </p:spPr>
      </p:sp>
      <p:sp>
        <p:nvSpPr>
          <p:cNvPr id="28" name="Shape 26"/>
          <p:cNvSpPr/>
          <p:nvPr/>
        </p:nvSpPr>
        <p:spPr>
          <a:xfrm>
            <a:off x="9753356" y="6583680"/>
            <a:ext cx="2438339" cy="274320"/>
          </a:xfrm>
          <a:prstGeom prst="rect">
            <a:avLst/>
          </a:prstGeom>
          <a:solidFill>
            <a:srgbClr val="FBAD25"/>
          </a:solidFill>
          <a:ln w="12700">
            <a:solidFill>
              <a:srgbClr val="FBAD25"/>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C1C"/>
        </a:solidFill>
      </p:bgPr>
    </p:bg>
    <p:spTree>
      <p:nvGrpSpPr>
        <p:cNvPr id="1" name=""/>
        <p:cNvGrpSpPr/>
        <p:nvPr/>
      </p:nvGrpSpPr>
      <p:grpSpPr>
        <a:xfrm>
          <a:off x="0" y="0"/>
          <a:ext cx="0" cy="0"/>
          <a:chOff x="0" y="0"/>
          <a:chExt cx="0" cy="0"/>
        </a:xfrm>
      </p:grpSpPr>
      <p:sp>
        <p:nvSpPr>
          <p:cNvPr id="2" name="Text 0"/>
          <p:cNvSpPr/>
          <p:nvPr/>
        </p:nvSpPr>
        <p:spPr>
          <a:xfrm>
            <a:off x="640080" y="457200"/>
            <a:ext cx="10058400" cy="274320"/>
          </a:xfrm>
          <a:prstGeom prst="rect">
            <a:avLst/>
          </a:prstGeom>
          <a:noFill/>
          <a:ln/>
        </p:spPr>
        <p:txBody>
          <a:bodyPr wrap="square" lIns="0" tIns="0" rIns="0" bIns="0" rtlCol="0" anchor="ctr"/>
          <a:lstStyle/>
          <a:p>
            <a:pPr indent="0" marL="0">
              <a:buNone/>
            </a:pPr>
            <a:r>
              <a:rPr lang="en-US" sz="1400" spc="400" kern="0" dirty="0">
                <a:solidFill>
                  <a:srgbClr val="00B29C"/>
                </a:solidFill>
                <a:latin typeface="Arial" pitchFamily="34" charset="0"/>
                <a:ea typeface="Arial" pitchFamily="34" charset="-122"/>
                <a:cs typeface="Arial" pitchFamily="34" charset="-120"/>
              </a:rPr>
              <a:t>TIMELINE</a:t>
            </a:r>
            <a:endParaRPr lang="en-US" sz="1400" dirty="0"/>
          </a:p>
        </p:txBody>
      </p:sp>
      <p:sp>
        <p:nvSpPr>
          <p:cNvPr id="3" name="Text 1"/>
          <p:cNvSpPr/>
          <p:nvPr/>
        </p:nvSpPr>
        <p:spPr>
          <a:xfrm>
            <a:off x="640080" y="868680"/>
            <a:ext cx="10058400" cy="548640"/>
          </a:xfrm>
          <a:prstGeom prst="rect">
            <a:avLst/>
          </a:prstGeom>
          <a:noFill/>
          <a:ln/>
        </p:spPr>
        <p:txBody>
          <a:bodyPr wrap="square" lIns="0" tIns="0" rIns="0" bIns="0" rtlCol="0" anchor="ctr"/>
          <a:lstStyle/>
          <a:p>
            <a:pPr indent="0" marL="0">
              <a:buNone/>
            </a:pPr>
            <a:r>
              <a:rPr lang="en-US" sz="3600" dirty="0">
                <a:solidFill>
                  <a:srgbClr val="FFFFFF"/>
                </a:solidFill>
                <a:latin typeface="Georgia" pitchFamily="34" charset="0"/>
                <a:ea typeface="Georgia" pitchFamily="34" charset="-122"/>
                <a:cs typeface="Georgia" pitchFamily="34" charset="-120"/>
              </a:rPr>
              <a:t>About two weeks, end to end</a:t>
            </a:r>
            <a:endParaRPr lang="en-US" sz="3600" dirty="0"/>
          </a:p>
        </p:txBody>
      </p:sp>
      <p:sp>
        <p:nvSpPr>
          <p:cNvPr id="4" name="Text 2"/>
          <p:cNvSpPr/>
          <p:nvPr/>
        </p:nvSpPr>
        <p:spPr>
          <a:xfrm>
            <a:off x="640080" y="1508760"/>
            <a:ext cx="10058400" cy="365760"/>
          </a:xfrm>
          <a:prstGeom prst="rect">
            <a:avLst/>
          </a:prstGeom>
          <a:noFill/>
          <a:ln/>
        </p:spPr>
        <p:txBody>
          <a:bodyPr wrap="square" lIns="0" tIns="0" rIns="0" bIns="0" rtlCol="0" anchor="ctr"/>
          <a:lstStyle/>
          <a:p>
            <a:pPr indent="0" marL="0">
              <a:buNone/>
            </a:pPr>
            <a:r>
              <a:rPr lang="en-US" sz="1800" dirty="0">
                <a:solidFill>
                  <a:srgbClr val="A8A29A"/>
                </a:solidFill>
                <a:latin typeface="Arial" pitchFamily="34" charset="0"/>
                <a:ea typeface="Arial" pitchFamily="34" charset="-122"/>
                <a:cs typeface="Arial" pitchFamily="34" charset="-120"/>
              </a:rPr>
              <a:t>A suggested pace — exact dates lock once we kick off together.</a:t>
            </a:r>
            <a:endParaRPr lang="en-US" sz="1800" dirty="0"/>
          </a:p>
        </p:txBody>
      </p:sp>
      <p:sp>
        <p:nvSpPr>
          <p:cNvPr id="5" name="Shape 3"/>
          <p:cNvSpPr/>
          <p:nvPr/>
        </p:nvSpPr>
        <p:spPr>
          <a:xfrm>
            <a:off x="1097280" y="3063240"/>
            <a:ext cx="9966960" cy="73152"/>
          </a:xfrm>
          <a:prstGeom prst="rect">
            <a:avLst/>
          </a:prstGeom>
          <a:solidFill>
            <a:srgbClr val="3A3A3A"/>
          </a:solidFill>
          <a:ln w="12700">
            <a:solidFill>
              <a:srgbClr val="3A3A3A"/>
            </a:solidFill>
            <a:prstDash val="solid"/>
          </a:ln>
        </p:spPr>
      </p:sp>
      <p:sp>
        <p:nvSpPr>
          <p:cNvPr id="6" name="Shape 4"/>
          <p:cNvSpPr/>
          <p:nvPr/>
        </p:nvSpPr>
        <p:spPr>
          <a:xfrm>
            <a:off x="3017520" y="2907792"/>
            <a:ext cx="384048" cy="384048"/>
          </a:xfrm>
          <a:prstGeom prst="ellipse">
            <a:avLst/>
          </a:prstGeom>
          <a:solidFill>
            <a:srgbClr val="00B29C"/>
          </a:solidFill>
          <a:ln w="12700">
            <a:solidFill>
              <a:srgbClr val="00B29C"/>
            </a:solidFill>
            <a:prstDash val="solid"/>
          </a:ln>
        </p:spPr>
      </p:sp>
      <p:sp>
        <p:nvSpPr>
          <p:cNvPr id="7" name="Text 5"/>
          <p:cNvSpPr/>
          <p:nvPr/>
        </p:nvSpPr>
        <p:spPr>
          <a:xfrm>
            <a:off x="1463040" y="3566160"/>
            <a:ext cx="3657600" cy="320040"/>
          </a:xfrm>
          <a:prstGeom prst="rect">
            <a:avLst/>
          </a:prstGeom>
          <a:noFill/>
          <a:ln/>
        </p:spPr>
        <p:txBody>
          <a:bodyPr wrap="square" lIns="0" tIns="0" rIns="0" bIns="0" rtlCol="0" anchor="ctr"/>
          <a:lstStyle/>
          <a:p>
            <a:pPr algn="ctr" indent="0" marL="0">
              <a:buNone/>
            </a:pPr>
            <a:r>
              <a:rPr lang="en-US" sz="1400" spc="300" kern="0" dirty="0">
                <a:solidFill>
                  <a:srgbClr val="00B29C"/>
                </a:solidFill>
                <a:latin typeface="Arial" pitchFamily="34" charset="0"/>
                <a:ea typeface="Arial" pitchFamily="34" charset="-122"/>
                <a:cs typeface="Arial" pitchFamily="34" charset="-120"/>
              </a:rPr>
              <a:t>WEEK 1</a:t>
            </a:r>
            <a:endParaRPr lang="en-US" sz="1400" dirty="0"/>
          </a:p>
        </p:txBody>
      </p:sp>
      <p:sp>
        <p:nvSpPr>
          <p:cNvPr id="8" name="Text 6"/>
          <p:cNvSpPr/>
          <p:nvPr/>
        </p:nvSpPr>
        <p:spPr>
          <a:xfrm>
            <a:off x="1463040" y="4023360"/>
            <a:ext cx="3657600" cy="1463040"/>
          </a:xfrm>
          <a:prstGeom prst="rect">
            <a:avLst/>
          </a:prstGeom>
          <a:noFill/>
          <a:ln/>
        </p:spPr>
        <p:txBody>
          <a:bodyPr wrap="square" lIns="0" tIns="0" rIns="0" bIns="0" rtlCol="0" anchor="ctr"/>
          <a:lstStyle/>
          <a:p>
            <a:pPr algn="ctr" indent="0" marL="0">
              <a:buNone/>
            </a:pPr>
            <a:r>
              <a:rPr lang="en-US" sz="2600" dirty="0">
                <a:solidFill>
                  <a:srgbClr val="FFFFFF"/>
                </a:solidFill>
                <a:latin typeface="Georgia" pitchFamily="34" charset="0"/>
                <a:ea typeface="Georgia" pitchFamily="34" charset="-122"/>
                <a:cs typeface="Georgia" pitchFamily="34" charset="-120"/>
              </a:rPr>
              <a:t>Discovery</a:t>
            </a:r>
            <a:endParaRPr lang="en-US" sz="2600" dirty="0"/>
          </a:p>
          <a:p>
            <a:pPr algn="ctr" indent="0" marL="0">
              <a:buNone/>
            </a:pPr>
            <a:r>
              <a:rPr lang="en-US" sz="2600" dirty="0">
                <a:solidFill>
                  <a:srgbClr val="FFFFFF"/>
                </a:solidFill>
                <a:latin typeface="Georgia" pitchFamily="34" charset="0"/>
                <a:ea typeface="Georgia" pitchFamily="34" charset="-122"/>
                <a:cs typeface="Georgia" pitchFamily="34" charset="-120"/>
              </a:rPr>
              <a:t>+</a:t>
            </a:r>
            <a:endParaRPr lang="en-US" sz="2600" dirty="0"/>
          </a:p>
          <a:p>
            <a:pPr algn="ctr" indent="0" marL="0">
              <a:buNone/>
            </a:pPr>
            <a:r>
              <a:rPr lang="en-US" sz="2600" dirty="0">
                <a:solidFill>
                  <a:srgbClr val="FFFFFF"/>
                </a:solidFill>
                <a:latin typeface="Georgia" pitchFamily="34" charset="0"/>
                <a:ea typeface="Georgia" pitchFamily="34" charset="-122"/>
                <a:cs typeface="Georgia" pitchFamily="34" charset="-120"/>
              </a:rPr>
              <a:t>Brand Strategy</a:t>
            </a:r>
            <a:endParaRPr lang="en-US" sz="2600" dirty="0"/>
          </a:p>
        </p:txBody>
      </p:sp>
      <p:sp>
        <p:nvSpPr>
          <p:cNvPr id="9" name="Shape 7"/>
          <p:cNvSpPr/>
          <p:nvPr/>
        </p:nvSpPr>
        <p:spPr>
          <a:xfrm>
            <a:off x="8138160" y="2907792"/>
            <a:ext cx="384048" cy="384048"/>
          </a:xfrm>
          <a:prstGeom prst="ellipse">
            <a:avLst/>
          </a:prstGeom>
          <a:solidFill>
            <a:srgbClr val="FBAD25"/>
          </a:solidFill>
          <a:ln w="12700">
            <a:solidFill>
              <a:srgbClr val="FBAD25"/>
            </a:solidFill>
            <a:prstDash val="solid"/>
          </a:ln>
        </p:spPr>
      </p:sp>
      <p:sp>
        <p:nvSpPr>
          <p:cNvPr id="10" name="Text 8"/>
          <p:cNvSpPr/>
          <p:nvPr/>
        </p:nvSpPr>
        <p:spPr>
          <a:xfrm>
            <a:off x="6583680" y="3566160"/>
            <a:ext cx="3657600" cy="320040"/>
          </a:xfrm>
          <a:prstGeom prst="rect">
            <a:avLst/>
          </a:prstGeom>
          <a:noFill/>
          <a:ln/>
        </p:spPr>
        <p:txBody>
          <a:bodyPr wrap="square" lIns="0" tIns="0" rIns="0" bIns="0" rtlCol="0" anchor="ctr"/>
          <a:lstStyle/>
          <a:p>
            <a:pPr algn="ctr" indent="0" marL="0">
              <a:buNone/>
            </a:pPr>
            <a:r>
              <a:rPr lang="en-US" sz="1400" spc="300" kern="0" dirty="0">
                <a:solidFill>
                  <a:srgbClr val="FBAD25"/>
                </a:solidFill>
                <a:latin typeface="Arial" pitchFamily="34" charset="0"/>
                <a:ea typeface="Arial" pitchFamily="34" charset="-122"/>
                <a:cs typeface="Arial" pitchFamily="34" charset="-120"/>
              </a:rPr>
              <a:t>WEEK 2</a:t>
            </a:r>
            <a:endParaRPr lang="en-US" sz="1400" dirty="0"/>
          </a:p>
        </p:txBody>
      </p:sp>
      <p:sp>
        <p:nvSpPr>
          <p:cNvPr id="11" name="Text 9"/>
          <p:cNvSpPr/>
          <p:nvPr/>
        </p:nvSpPr>
        <p:spPr>
          <a:xfrm>
            <a:off x="6583680" y="4023360"/>
            <a:ext cx="3657600" cy="1463040"/>
          </a:xfrm>
          <a:prstGeom prst="rect">
            <a:avLst/>
          </a:prstGeom>
          <a:noFill/>
          <a:ln/>
        </p:spPr>
        <p:txBody>
          <a:bodyPr wrap="square" lIns="0" tIns="0" rIns="0" bIns="0" rtlCol="0" anchor="ctr"/>
          <a:lstStyle/>
          <a:p>
            <a:pPr algn="ctr" indent="0" marL="0">
              <a:buNone/>
            </a:pPr>
            <a:r>
              <a:rPr lang="en-US" sz="2600" dirty="0">
                <a:solidFill>
                  <a:srgbClr val="FFFFFF"/>
                </a:solidFill>
                <a:latin typeface="Georgia" pitchFamily="34" charset="0"/>
                <a:ea typeface="Georgia" pitchFamily="34" charset="-122"/>
                <a:cs typeface="Georgia" pitchFamily="34" charset="-120"/>
              </a:rPr>
              <a:t>Visual Identity</a:t>
            </a:r>
            <a:endParaRPr lang="en-US" sz="2600" dirty="0"/>
          </a:p>
          <a:p>
            <a:pPr algn="ctr" indent="0" marL="0">
              <a:buNone/>
            </a:pPr>
            <a:r>
              <a:rPr lang="en-US" sz="2600" dirty="0">
                <a:solidFill>
                  <a:srgbClr val="FFFFFF"/>
                </a:solidFill>
                <a:latin typeface="Georgia" pitchFamily="34" charset="0"/>
                <a:ea typeface="Georgia" pitchFamily="34" charset="-122"/>
                <a:cs typeface="Georgia" pitchFamily="34" charset="-120"/>
              </a:rPr>
              <a:t>+</a:t>
            </a:r>
            <a:endParaRPr lang="en-US" sz="2600" dirty="0"/>
          </a:p>
          <a:p>
            <a:pPr algn="ctr" indent="0" marL="0">
              <a:buNone/>
            </a:pPr>
            <a:r>
              <a:rPr lang="en-US" sz="2600" dirty="0">
                <a:solidFill>
                  <a:srgbClr val="FFFFFF"/>
                </a:solidFill>
                <a:latin typeface="Georgia" pitchFamily="34" charset="0"/>
                <a:ea typeface="Georgia" pitchFamily="34" charset="-122"/>
                <a:cs typeface="Georgia" pitchFamily="34" charset="-120"/>
              </a:rPr>
              <a:t>Website + Assets</a:t>
            </a:r>
            <a:endParaRPr lang="en-US" sz="2600" dirty="0"/>
          </a:p>
        </p:txBody>
      </p:sp>
      <p:sp>
        <p:nvSpPr>
          <p:cNvPr id="12" name="Text 10"/>
          <p:cNvSpPr/>
          <p:nvPr/>
        </p:nvSpPr>
        <p:spPr>
          <a:xfrm>
            <a:off x="640080" y="6309360"/>
            <a:ext cx="5486400" cy="228600"/>
          </a:xfrm>
          <a:prstGeom prst="rect">
            <a:avLst/>
          </a:prstGeom>
          <a:noFill/>
          <a:ln/>
        </p:spPr>
        <p:txBody>
          <a:bodyPr wrap="square" lIns="0" tIns="0" rIns="0" bIns="0" rtlCol="0" anchor="ctr"/>
          <a:lstStyle/>
          <a:p>
            <a:pPr indent="0" marL="0">
              <a:buNone/>
            </a:pPr>
            <a:r>
              <a:rPr lang="en-US" sz="1100" spc="200" kern="0" dirty="0">
                <a:solidFill>
                  <a:srgbClr val="A8A29A"/>
                </a:solidFill>
                <a:latin typeface="Arial" pitchFamily="34" charset="0"/>
                <a:ea typeface="Arial" pitchFamily="34" charset="-122"/>
                <a:cs typeface="Arial" pitchFamily="34" charset="-120"/>
              </a:rPr>
              <a:t>GHOSTSIGNAL  ·  PROPOSAL V1</a:t>
            </a:r>
            <a:endParaRPr lang="en-US" sz="1100" dirty="0"/>
          </a:p>
        </p:txBody>
      </p:sp>
      <p:sp>
        <p:nvSpPr>
          <p:cNvPr id="13" name="Text 11"/>
          <p:cNvSpPr/>
          <p:nvPr/>
        </p:nvSpPr>
        <p:spPr>
          <a:xfrm>
            <a:off x="10271455" y="6309360"/>
            <a:ext cx="1280160" cy="228600"/>
          </a:xfrm>
          <a:prstGeom prst="rect">
            <a:avLst/>
          </a:prstGeom>
          <a:noFill/>
          <a:ln/>
        </p:spPr>
        <p:txBody>
          <a:bodyPr wrap="square" lIns="0" tIns="0" rIns="0" bIns="0" rtlCol="0" anchor="ctr"/>
          <a:lstStyle/>
          <a:p>
            <a:pPr algn="r" indent="0" marL="0">
              <a:buNone/>
            </a:pPr>
            <a:r>
              <a:rPr lang="en-US" sz="1100" b="1" dirty="0">
                <a:solidFill>
                  <a:srgbClr val="A8A29A"/>
                </a:solidFill>
                <a:latin typeface="Arial" pitchFamily="34" charset="0"/>
                <a:ea typeface="Arial" pitchFamily="34" charset="-122"/>
                <a:cs typeface="Arial" pitchFamily="34" charset="-120"/>
              </a:rPr>
              <a:t>04 / 06</a:t>
            </a:r>
            <a:endParaRPr lang="en-US" sz="1100" dirty="0"/>
          </a:p>
        </p:txBody>
      </p:sp>
      <p:sp>
        <p:nvSpPr>
          <p:cNvPr id="14" name="Shape 12"/>
          <p:cNvSpPr/>
          <p:nvPr/>
        </p:nvSpPr>
        <p:spPr>
          <a:xfrm>
            <a:off x="0" y="6583680"/>
            <a:ext cx="2438339" cy="274320"/>
          </a:xfrm>
          <a:prstGeom prst="rect">
            <a:avLst/>
          </a:prstGeom>
          <a:solidFill>
            <a:srgbClr val="D66157"/>
          </a:solidFill>
          <a:ln w="12700">
            <a:solidFill>
              <a:srgbClr val="D66157"/>
            </a:solidFill>
            <a:prstDash val="solid"/>
          </a:ln>
        </p:spPr>
      </p:sp>
      <p:sp>
        <p:nvSpPr>
          <p:cNvPr id="15" name="Shape 13"/>
          <p:cNvSpPr/>
          <p:nvPr/>
        </p:nvSpPr>
        <p:spPr>
          <a:xfrm>
            <a:off x="2438339" y="6583680"/>
            <a:ext cx="2438339" cy="274320"/>
          </a:xfrm>
          <a:prstGeom prst="rect">
            <a:avLst/>
          </a:prstGeom>
          <a:solidFill>
            <a:srgbClr val="9F71AF"/>
          </a:solidFill>
          <a:ln w="12700">
            <a:solidFill>
              <a:srgbClr val="9F71AF"/>
            </a:solidFill>
            <a:prstDash val="solid"/>
          </a:ln>
        </p:spPr>
      </p:sp>
      <p:sp>
        <p:nvSpPr>
          <p:cNvPr id="16" name="Shape 14"/>
          <p:cNvSpPr/>
          <p:nvPr/>
        </p:nvSpPr>
        <p:spPr>
          <a:xfrm>
            <a:off x="4876678" y="6583680"/>
            <a:ext cx="2438339" cy="274320"/>
          </a:xfrm>
          <a:prstGeom prst="rect">
            <a:avLst/>
          </a:prstGeom>
          <a:solidFill>
            <a:srgbClr val="00B29C"/>
          </a:solidFill>
          <a:ln w="12700">
            <a:solidFill>
              <a:srgbClr val="00B29C"/>
            </a:solidFill>
            <a:prstDash val="solid"/>
          </a:ln>
        </p:spPr>
      </p:sp>
      <p:sp>
        <p:nvSpPr>
          <p:cNvPr id="17" name="Shape 15"/>
          <p:cNvSpPr/>
          <p:nvPr/>
        </p:nvSpPr>
        <p:spPr>
          <a:xfrm>
            <a:off x="7315017" y="6583680"/>
            <a:ext cx="2438339" cy="274320"/>
          </a:xfrm>
          <a:prstGeom prst="rect">
            <a:avLst/>
          </a:prstGeom>
          <a:solidFill>
            <a:srgbClr val="FF7BAD"/>
          </a:solidFill>
          <a:ln w="12700">
            <a:solidFill>
              <a:srgbClr val="FF7BAD"/>
            </a:solidFill>
            <a:prstDash val="solid"/>
          </a:ln>
        </p:spPr>
      </p:sp>
      <p:sp>
        <p:nvSpPr>
          <p:cNvPr id="18" name="Shape 16"/>
          <p:cNvSpPr/>
          <p:nvPr/>
        </p:nvSpPr>
        <p:spPr>
          <a:xfrm>
            <a:off x="9753356" y="6583680"/>
            <a:ext cx="2438339" cy="274320"/>
          </a:xfrm>
          <a:prstGeom prst="rect">
            <a:avLst/>
          </a:prstGeom>
          <a:solidFill>
            <a:srgbClr val="FBAD25"/>
          </a:solidFill>
          <a:ln w="12700">
            <a:solidFill>
              <a:srgbClr val="FBAD25"/>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p:bgPr>
    </p:bg>
    <p:spTree>
      <p:nvGrpSpPr>
        <p:cNvPr id="1" name=""/>
        <p:cNvGrpSpPr/>
        <p:nvPr/>
      </p:nvGrpSpPr>
      <p:grpSpPr>
        <a:xfrm>
          <a:off x="0" y="0"/>
          <a:ext cx="0" cy="0"/>
          <a:chOff x="0" y="0"/>
          <a:chExt cx="0" cy="0"/>
        </a:xfrm>
      </p:grpSpPr>
      <p:sp>
        <p:nvSpPr>
          <p:cNvPr id="2" name="Text 0"/>
          <p:cNvSpPr/>
          <p:nvPr/>
        </p:nvSpPr>
        <p:spPr>
          <a:xfrm>
            <a:off x="640080" y="201168"/>
            <a:ext cx="7315200" cy="219456"/>
          </a:xfrm>
          <a:prstGeom prst="rect">
            <a:avLst/>
          </a:prstGeom>
          <a:noFill/>
          <a:ln/>
        </p:spPr>
        <p:txBody>
          <a:bodyPr wrap="square" lIns="0" tIns="0" rIns="0" bIns="0" rtlCol="0" anchor="ctr"/>
          <a:lstStyle/>
          <a:p>
            <a:pPr indent="0" marL="0">
              <a:buNone/>
            </a:pPr>
            <a:r>
              <a:rPr lang="en-US" sz="1200" spc="400" kern="0" dirty="0">
                <a:solidFill>
                  <a:srgbClr val="00B29C"/>
                </a:solidFill>
                <a:latin typeface="Arial" pitchFamily="34" charset="0"/>
                <a:ea typeface="Arial" pitchFamily="34" charset="-122"/>
                <a:cs typeface="Arial" pitchFamily="34" charset="-120"/>
              </a:rPr>
              <a:t>SCOPE OF WORK</a:t>
            </a:r>
            <a:endParaRPr lang="en-US" sz="1200" dirty="0"/>
          </a:p>
        </p:txBody>
      </p:sp>
      <p:sp>
        <p:nvSpPr>
          <p:cNvPr id="3" name="Text 1"/>
          <p:cNvSpPr/>
          <p:nvPr/>
        </p:nvSpPr>
        <p:spPr>
          <a:xfrm>
            <a:off x="640080" y="411480"/>
            <a:ext cx="9144000" cy="347472"/>
          </a:xfrm>
          <a:prstGeom prst="rect">
            <a:avLst/>
          </a:prstGeom>
          <a:noFill/>
          <a:ln/>
        </p:spPr>
        <p:txBody>
          <a:bodyPr wrap="square" lIns="0" tIns="0" rIns="0" bIns="0" rtlCol="0" anchor="ctr"/>
          <a:lstStyle/>
          <a:p>
            <a:pPr indent="0" marL="0">
              <a:buNone/>
            </a:pPr>
            <a:r>
              <a:rPr lang="en-US" sz="2600" dirty="0">
                <a:solidFill>
                  <a:srgbClr val="141414"/>
                </a:solidFill>
                <a:latin typeface="Georgia" pitchFamily="34" charset="0"/>
                <a:ea typeface="Georgia" pitchFamily="34" charset="-122"/>
                <a:cs typeface="Georgia" pitchFamily="34" charset="-120"/>
              </a:rPr>
              <a:t>What we will do together</a:t>
            </a:r>
            <a:endParaRPr lang="en-US" sz="2600" dirty="0"/>
          </a:p>
        </p:txBody>
      </p:sp>
      <p:sp>
        <p:nvSpPr>
          <p:cNvPr id="4" name="Shape 2"/>
          <p:cNvSpPr/>
          <p:nvPr/>
        </p:nvSpPr>
        <p:spPr>
          <a:xfrm>
            <a:off x="640080" y="868680"/>
            <a:ext cx="2651760" cy="443484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5" name="Shape 3"/>
          <p:cNvSpPr/>
          <p:nvPr/>
        </p:nvSpPr>
        <p:spPr>
          <a:xfrm>
            <a:off x="640080" y="868680"/>
            <a:ext cx="109728" cy="4434840"/>
          </a:xfrm>
          <a:prstGeom prst="rect">
            <a:avLst/>
          </a:prstGeom>
          <a:solidFill>
            <a:srgbClr val="00B29C"/>
          </a:solidFill>
          <a:ln w="12700">
            <a:solidFill>
              <a:srgbClr val="00B29C"/>
            </a:solidFill>
            <a:prstDash val="solid"/>
          </a:ln>
        </p:spPr>
      </p:sp>
      <p:sp>
        <p:nvSpPr>
          <p:cNvPr id="6" name="Text 4"/>
          <p:cNvSpPr/>
          <p:nvPr/>
        </p:nvSpPr>
        <p:spPr>
          <a:xfrm>
            <a:off x="877824" y="1033272"/>
            <a:ext cx="2267712" cy="310896"/>
          </a:xfrm>
          <a:prstGeom prst="rect">
            <a:avLst/>
          </a:prstGeom>
          <a:noFill/>
          <a:ln/>
        </p:spPr>
        <p:txBody>
          <a:bodyPr wrap="square" lIns="0" tIns="0" rIns="0" bIns="0" rtlCol="0" anchor="ctr"/>
          <a:lstStyle/>
          <a:p>
            <a:pPr indent="0" marL="0">
              <a:buNone/>
            </a:pPr>
            <a:r>
              <a:rPr lang="en-US" sz="2000" b="1" dirty="0">
                <a:solidFill>
                  <a:srgbClr val="00B29C"/>
                </a:solidFill>
                <a:latin typeface="Arial" pitchFamily="34" charset="0"/>
                <a:ea typeface="Arial" pitchFamily="34" charset="-122"/>
                <a:cs typeface="Arial" pitchFamily="34" charset="-120"/>
              </a:rPr>
              <a:t>01</a:t>
            </a:r>
            <a:endParaRPr lang="en-US" sz="2000" dirty="0"/>
          </a:p>
        </p:txBody>
      </p:sp>
      <p:sp>
        <p:nvSpPr>
          <p:cNvPr id="7" name="Text 5"/>
          <p:cNvSpPr/>
          <p:nvPr/>
        </p:nvSpPr>
        <p:spPr>
          <a:xfrm>
            <a:off x="877824" y="1371600"/>
            <a:ext cx="2267712" cy="640080"/>
          </a:xfrm>
          <a:prstGeom prst="rect">
            <a:avLst/>
          </a:prstGeom>
          <a:noFill/>
          <a:ln/>
        </p:spPr>
        <p:txBody>
          <a:bodyPr wrap="square" lIns="0" tIns="0" rIns="0" bIns="0" rtlCol="0" anchor="ctr"/>
          <a:lstStyle/>
          <a:p>
            <a:pPr indent="0" marL="0">
              <a:buNone/>
            </a:pPr>
            <a:r>
              <a:rPr lang="en-US" sz="1800" dirty="0">
                <a:solidFill>
                  <a:srgbClr val="141414"/>
                </a:solidFill>
                <a:latin typeface="Georgia" pitchFamily="34" charset="0"/>
                <a:ea typeface="Georgia" pitchFamily="34" charset="-122"/>
                <a:cs typeface="Georgia" pitchFamily="34" charset="-120"/>
              </a:rPr>
              <a:t>Discovery</a:t>
            </a:r>
            <a:endParaRPr lang="en-US" sz="1800" dirty="0"/>
          </a:p>
        </p:txBody>
      </p:sp>
      <p:sp>
        <p:nvSpPr>
          <p:cNvPr id="8" name="Text 6"/>
          <p:cNvSpPr/>
          <p:nvPr/>
        </p:nvSpPr>
        <p:spPr>
          <a:xfrm>
            <a:off x="877824" y="2103120"/>
            <a:ext cx="2267712" cy="2971800"/>
          </a:xfrm>
          <a:prstGeom prst="rect">
            <a:avLst/>
          </a:prstGeom>
          <a:noFill/>
          <a:ln/>
        </p:spPr>
        <p:txBody>
          <a:bodyPr wrap="square" lIns="0" tIns="0" rIns="0" bIns="0" rtlCol="0" anchor="t"/>
          <a:lstStyle/>
          <a:p>
            <a:pPr indent="0" marL="0">
              <a:buNone/>
            </a:pPr>
            <a:r>
              <a:rPr lang="en-US" sz="1100" dirty="0">
                <a:solidFill>
                  <a:srgbClr val="6B6560"/>
                </a:solidFill>
                <a:latin typeface="Arial" pitchFamily="34" charset="0"/>
                <a:ea typeface="Arial" pitchFamily="34" charset="-122"/>
                <a:cs typeface="Arial" pitchFamily="34" charset="-120"/>
              </a:rPr>
              <a:t>This project begins with understanding: through a guided conversation we discover your hopes and aspirations for the future of your brand. This step forms the foundation for the steps that follow, ensuring we stay authentic to who you are.</a:t>
            </a:r>
            <a:endParaRPr lang="en-US" sz="1100" dirty="0"/>
          </a:p>
        </p:txBody>
      </p:sp>
      <p:sp>
        <p:nvSpPr>
          <p:cNvPr id="9" name="Shape 7"/>
          <p:cNvSpPr/>
          <p:nvPr/>
        </p:nvSpPr>
        <p:spPr>
          <a:xfrm>
            <a:off x="3438144" y="868680"/>
            <a:ext cx="2651760" cy="443484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10" name="Shape 8"/>
          <p:cNvSpPr/>
          <p:nvPr/>
        </p:nvSpPr>
        <p:spPr>
          <a:xfrm>
            <a:off x="3438144" y="868680"/>
            <a:ext cx="109728" cy="4434840"/>
          </a:xfrm>
          <a:prstGeom prst="rect">
            <a:avLst/>
          </a:prstGeom>
          <a:solidFill>
            <a:srgbClr val="9F71AF"/>
          </a:solidFill>
          <a:ln w="12700">
            <a:solidFill>
              <a:srgbClr val="9F71AF"/>
            </a:solidFill>
            <a:prstDash val="solid"/>
          </a:ln>
        </p:spPr>
      </p:sp>
      <p:sp>
        <p:nvSpPr>
          <p:cNvPr id="11" name="Text 9"/>
          <p:cNvSpPr/>
          <p:nvPr/>
        </p:nvSpPr>
        <p:spPr>
          <a:xfrm>
            <a:off x="3675888" y="1033272"/>
            <a:ext cx="2267712" cy="310896"/>
          </a:xfrm>
          <a:prstGeom prst="rect">
            <a:avLst/>
          </a:prstGeom>
          <a:noFill/>
          <a:ln/>
        </p:spPr>
        <p:txBody>
          <a:bodyPr wrap="square" lIns="0" tIns="0" rIns="0" bIns="0" rtlCol="0" anchor="ctr"/>
          <a:lstStyle/>
          <a:p>
            <a:pPr indent="0" marL="0">
              <a:buNone/>
            </a:pPr>
            <a:r>
              <a:rPr lang="en-US" sz="2000" b="1" dirty="0">
                <a:solidFill>
                  <a:srgbClr val="9F71AF"/>
                </a:solidFill>
                <a:latin typeface="Arial" pitchFamily="34" charset="0"/>
                <a:ea typeface="Arial" pitchFamily="34" charset="-122"/>
                <a:cs typeface="Arial" pitchFamily="34" charset="-120"/>
              </a:rPr>
              <a:t>02</a:t>
            </a:r>
            <a:endParaRPr lang="en-US" sz="2000" dirty="0"/>
          </a:p>
        </p:txBody>
      </p:sp>
      <p:sp>
        <p:nvSpPr>
          <p:cNvPr id="12" name="Text 10"/>
          <p:cNvSpPr/>
          <p:nvPr/>
        </p:nvSpPr>
        <p:spPr>
          <a:xfrm>
            <a:off x="3675888" y="1371600"/>
            <a:ext cx="2267712" cy="640080"/>
          </a:xfrm>
          <a:prstGeom prst="rect">
            <a:avLst/>
          </a:prstGeom>
          <a:noFill/>
          <a:ln/>
        </p:spPr>
        <p:txBody>
          <a:bodyPr wrap="square" lIns="0" tIns="0" rIns="0" bIns="0" rtlCol="0" anchor="ctr"/>
          <a:lstStyle/>
          <a:p>
            <a:pPr indent="0" marL="0">
              <a:buNone/>
            </a:pPr>
            <a:r>
              <a:rPr lang="en-US" sz="1800" dirty="0">
                <a:solidFill>
                  <a:srgbClr val="141414"/>
                </a:solidFill>
                <a:latin typeface="Georgia" pitchFamily="34" charset="0"/>
                <a:ea typeface="Georgia" pitchFamily="34" charset="-122"/>
                <a:cs typeface="Georgia" pitchFamily="34" charset="-120"/>
              </a:rPr>
              <a:t>Brand Strategy</a:t>
            </a:r>
            <a:endParaRPr lang="en-US" sz="1800" dirty="0"/>
          </a:p>
        </p:txBody>
      </p:sp>
      <p:sp>
        <p:nvSpPr>
          <p:cNvPr id="13" name="Text 11"/>
          <p:cNvSpPr/>
          <p:nvPr/>
        </p:nvSpPr>
        <p:spPr>
          <a:xfrm>
            <a:off x="3675888" y="2103120"/>
            <a:ext cx="2267712" cy="2971800"/>
          </a:xfrm>
          <a:prstGeom prst="rect">
            <a:avLst/>
          </a:prstGeom>
          <a:noFill/>
          <a:ln/>
        </p:spPr>
        <p:txBody>
          <a:bodyPr wrap="square" lIns="0" tIns="0" rIns="0" bIns="0" rtlCol="0" anchor="t"/>
          <a:lstStyle/>
          <a:p>
            <a:pPr indent="0" marL="0">
              <a:buNone/>
            </a:pPr>
            <a:r>
              <a:rPr lang="en-US" sz="1100" dirty="0">
                <a:solidFill>
                  <a:srgbClr val="6B6560"/>
                </a:solidFill>
                <a:latin typeface="Arial" pitchFamily="34" charset="0"/>
                <a:ea typeface="Arial" pitchFamily="34" charset="-122"/>
                <a:cs typeface="Arial" pitchFamily="34" charset="-120"/>
              </a:rPr>
              <a:t>Building on the Discovery step, we develop a Brand Strategy report, detailing the direction and aims of the brand. Here, we codify the role of each of the brand’s current platforms, describe the voice of the brand, and recommend steps for future growth.</a:t>
            </a:r>
            <a:endParaRPr lang="en-US" sz="1100" dirty="0"/>
          </a:p>
        </p:txBody>
      </p:sp>
      <p:sp>
        <p:nvSpPr>
          <p:cNvPr id="14" name="Shape 12"/>
          <p:cNvSpPr/>
          <p:nvPr/>
        </p:nvSpPr>
        <p:spPr>
          <a:xfrm>
            <a:off x="6236208" y="868680"/>
            <a:ext cx="2651760" cy="443484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15" name="Shape 13"/>
          <p:cNvSpPr/>
          <p:nvPr/>
        </p:nvSpPr>
        <p:spPr>
          <a:xfrm>
            <a:off x="6236208" y="868680"/>
            <a:ext cx="109728" cy="4434840"/>
          </a:xfrm>
          <a:prstGeom prst="rect">
            <a:avLst/>
          </a:prstGeom>
          <a:solidFill>
            <a:srgbClr val="D66157"/>
          </a:solidFill>
          <a:ln w="12700">
            <a:solidFill>
              <a:srgbClr val="D66157"/>
            </a:solidFill>
            <a:prstDash val="solid"/>
          </a:ln>
        </p:spPr>
      </p:sp>
      <p:sp>
        <p:nvSpPr>
          <p:cNvPr id="16" name="Text 14"/>
          <p:cNvSpPr/>
          <p:nvPr/>
        </p:nvSpPr>
        <p:spPr>
          <a:xfrm>
            <a:off x="6473952" y="1033272"/>
            <a:ext cx="2267712" cy="310896"/>
          </a:xfrm>
          <a:prstGeom prst="rect">
            <a:avLst/>
          </a:prstGeom>
          <a:noFill/>
          <a:ln/>
        </p:spPr>
        <p:txBody>
          <a:bodyPr wrap="square" lIns="0" tIns="0" rIns="0" bIns="0" rtlCol="0" anchor="ctr"/>
          <a:lstStyle/>
          <a:p>
            <a:pPr indent="0" marL="0">
              <a:buNone/>
            </a:pPr>
            <a:r>
              <a:rPr lang="en-US" sz="2000" b="1" dirty="0">
                <a:solidFill>
                  <a:srgbClr val="D66157"/>
                </a:solidFill>
                <a:latin typeface="Arial" pitchFamily="34" charset="0"/>
                <a:ea typeface="Arial" pitchFamily="34" charset="-122"/>
                <a:cs typeface="Arial" pitchFamily="34" charset="-120"/>
              </a:rPr>
              <a:t>03</a:t>
            </a:r>
            <a:endParaRPr lang="en-US" sz="2000" dirty="0"/>
          </a:p>
        </p:txBody>
      </p:sp>
      <p:sp>
        <p:nvSpPr>
          <p:cNvPr id="17" name="Text 15"/>
          <p:cNvSpPr/>
          <p:nvPr/>
        </p:nvSpPr>
        <p:spPr>
          <a:xfrm>
            <a:off x="6473952" y="1371600"/>
            <a:ext cx="2267712" cy="640080"/>
          </a:xfrm>
          <a:prstGeom prst="rect">
            <a:avLst/>
          </a:prstGeom>
          <a:noFill/>
          <a:ln/>
        </p:spPr>
        <p:txBody>
          <a:bodyPr wrap="square" lIns="0" tIns="0" rIns="0" bIns="0" rtlCol="0" anchor="ctr"/>
          <a:lstStyle/>
          <a:p>
            <a:pPr indent="0" marL="0">
              <a:buNone/>
            </a:pPr>
            <a:r>
              <a:rPr lang="en-US" sz="1800" dirty="0">
                <a:solidFill>
                  <a:srgbClr val="141414"/>
                </a:solidFill>
                <a:latin typeface="Georgia" pitchFamily="34" charset="0"/>
                <a:ea typeface="Georgia" pitchFamily="34" charset="-122"/>
                <a:cs typeface="Georgia" pitchFamily="34" charset="-120"/>
              </a:rPr>
              <a:t>Visual Identity</a:t>
            </a:r>
            <a:endParaRPr lang="en-US" sz="1800" dirty="0"/>
          </a:p>
        </p:txBody>
      </p:sp>
      <p:sp>
        <p:nvSpPr>
          <p:cNvPr id="18" name="Text 16"/>
          <p:cNvSpPr/>
          <p:nvPr/>
        </p:nvSpPr>
        <p:spPr>
          <a:xfrm>
            <a:off x="6473952" y="2103120"/>
            <a:ext cx="2267712" cy="2971800"/>
          </a:xfrm>
          <a:prstGeom prst="rect">
            <a:avLst/>
          </a:prstGeom>
          <a:noFill/>
          <a:ln/>
        </p:spPr>
        <p:txBody>
          <a:bodyPr wrap="square" lIns="0" tIns="0" rIns="0" bIns="0" rtlCol="0" anchor="t"/>
          <a:lstStyle/>
          <a:p>
            <a:pPr indent="0" marL="0">
              <a:buNone/>
            </a:pPr>
            <a:r>
              <a:rPr lang="en-US" sz="1100" dirty="0">
                <a:solidFill>
                  <a:srgbClr val="6B6560"/>
                </a:solidFill>
                <a:latin typeface="Arial" pitchFamily="34" charset="0"/>
                <a:ea typeface="Arial" pitchFamily="34" charset="-122"/>
                <a:cs typeface="Arial" pitchFamily="34" charset="-120"/>
              </a:rPr>
              <a:t>Based on the Discovery and Strategy steps, we develop a cohesive Visual Identity for the overall brand. Including logo, color palette, and fonts, this step develops the entire visual environment for the brand.</a:t>
            </a:r>
            <a:endParaRPr lang="en-US" sz="1100" dirty="0"/>
          </a:p>
        </p:txBody>
      </p:sp>
      <p:sp>
        <p:nvSpPr>
          <p:cNvPr id="19" name="Shape 17"/>
          <p:cNvSpPr/>
          <p:nvPr/>
        </p:nvSpPr>
        <p:spPr>
          <a:xfrm>
            <a:off x="9034272" y="868680"/>
            <a:ext cx="2651760" cy="4434840"/>
          </a:xfrm>
          <a:prstGeom prst="rect">
            <a:avLst/>
          </a:prstGeom>
          <a:solidFill>
            <a:srgbClr val="FFFFFF"/>
          </a:solidFill>
          <a:ln w="12700">
            <a:solidFill>
              <a:srgbClr val="E8E2D9"/>
            </a:solidFill>
            <a:prstDash val="solid"/>
          </a:ln>
          <a:effectLst>
            <a:outerShdw sx="100000" sy="100000" kx="0" ky="0" algn="bl" rotWithShape="0" blurRad="203200" dist="38100" dir="8100000">
              <a:srgbClr val="000000">
                <a:alpha val="12000"/>
              </a:srgbClr>
            </a:outerShdw>
          </a:effectLst>
        </p:spPr>
      </p:sp>
      <p:sp>
        <p:nvSpPr>
          <p:cNvPr id="20" name="Shape 18"/>
          <p:cNvSpPr/>
          <p:nvPr/>
        </p:nvSpPr>
        <p:spPr>
          <a:xfrm>
            <a:off x="9034272" y="868680"/>
            <a:ext cx="109728" cy="4434840"/>
          </a:xfrm>
          <a:prstGeom prst="rect">
            <a:avLst/>
          </a:prstGeom>
          <a:solidFill>
            <a:srgbClr val="FBAD25"/>
          </a:solidFill>
          <a:ln w="12700">
            <a:solidFill>
              <a:srgbClr val="FBAD25"/>
            </a:solidFill>
            <a:prstDash val="solid"/>
          </a:ln>
        </p:spPr>
      </p:sp>
      <p:sp>
        <p:nvSpPr>
          <p:cNvPr id="21" name="Text 19"/>
          <p:cNvSpPr/>
          <p:nvPr/>
        </p:nvSpPr>
        <p:spPr>
          <a:xfrm>
            <a:off x="9272016" y="1033272"/>
            <a:ext cx="2267712" cy="310896"/>
          </a:xfrm>
          <a:prstGeom prst="rect">
            <a:avLst/>
          </a:prstGeom>
          <a:noFill/>
          <a:ln/>
        </p:spPr>
        <p:txBody>
          <a:bodyPr wrap="square" lIns="0" tIns="0" rIns="0" bIns="0" rtlCol="0" anchor="ctr"/>
          <a:lstStyle/>
          <a:p>
            <a:pPr indent="0" marL="0">
              <a:buNone/>
            </a:pPr>
            <a:r>
              <a:rPr lang="en-US" sz="2000" b="1" dirty="0">
                <a:solidFill>
                  <a:srgbClr val="FBAD25"/>
                </a:solidFill>
                <a:latin typeface="Arial" pitchFamily="34" charset="0"/>
                <a:ea typeface="Arial" pitchFamily="34" charset="-122"/>
                <a:cs typeface="Arial" pitchFamily="34" charset="-120"/>
              </a:rPr>
              <a:t>04</a:t>
            </a:r>
            <a:endParaRPr lang="en-US" sz="2000" dirty="0"/>
          </a:p>
        </p:txBody>
      </p:sp>
      <p:sp>
        <p:nvSpPr>
          <p:cNvPr id="22" name="Text 20"/>
          <p:cNvSpPr/>
          <p:nvPr/>
        </p:nvSpPr>
        <p:spPr>
          <a:xfrm>
            <a:off x="9272016" y="1371600"/>
            <a:ext cx="2267712" cy="640080"/>
          </a:xfrm>
          <a:prstGeom prst="rect">
            <a:avLst/>
          </a:prstGeom>
          <a:noFill/>
          <a:ln/>
        </p:spPr>
        <p:txBody>
          <a:bodyPr wrap="square" lIns="0" tIns="0" rIns="0" bIns="0" rtlCol="0" anchor="ctr"/>
          <a:lstStyle/>
          <a:p>
            <a:pPr indent="0" marL="0">
              <a:buNone/>
            </a:pPr>
            <a:r>
              <a:rPr lang="en-US" sz="1800" dirty="0">
                <a:solidFill>
                  <a:srgbClr val="141414"/>
                </a:solidFill>
                <a:latin typeface="Georgia" pitchFamily="34" charset="0"/>
                <a:ea typeface="Georgia" pitchFamily="34" charset="-122"/>
                <a:cs typeface="Georgia" pitchFamily="34" charset="-120"/>
              </a:rPr>
              <a:t>Website + Platform Assets</a:t>
            </a:r>
            <a:endParaRPr lang="en-US" sz="1800" dirty="0"/>
          </a:p>
        </p:txBody>
      </p:sp>
      <p:sp>
        <p:nvSpPr>
          <p:cNvPr id="23" name="Text 21"/>
          <p:cNvSpPr/>
          <p:nvPr/>
        </p:nvSpPr>
        <p:spPr>
          <a:xfrm>
            <a:off x="9272016" y="2103120"/>
            <a:ext cx="2267712" cy="2971800"/>
          </a:xfrm>
          <a:prstGeom prst="rect">
            <a:avLst/>
          </a:prstGeom>
          <a:noFill/>
          <a:ln/>
        </p:spPr>
        <p:txBody>
          <a:bodyPr wrap="square" lIns="0" tIns="0" rIns="0" bIns="0" rtlCol="0" anchor="t"/>
          <a:lstStyle/>
          <a:p>
            <a:pPr indent="0" marL="0">
              <a:buNone/>
            </a:pPr>
            <a:r>
              <a:rPr lang="en-US" sz="1100" dirty="0">
                <a:solidFill>
                  <a:srgbClr val="6B6560"/>
                </a:solidFill>
                <a:latin typeface="Arial" pitchFamily="34" charset="0"/>
                <a:ea typeface="Arial" pitchFamily="34" charset="-122"/>
                <a:cs typeface="Arial" pitchFamily="34" charset="-120"/>
              </a:rPr>
              <a:t>Finally, we apply all the previous work to a new website for the brand. Serving as a hub for all of your offerings, the website gives your audience the ease of a singular gathering place from which you communicate. This step also includes visual assets necessary for creating brand consistency across all of your current platforms.</a:t>
            </a:r>
            <a:endParaRPr lang="en-US" sz="1100" dirty="0"/>
          </a:p>
        </p:txBody>
      </p:sp>
      <p:sp>
        <p:nvSpPr>
          <p:cNvPr id="24" name="Shape 22"/>
          <p:cNvSpPr/>
          <p:nvPr/>
        </p:nvSpPr>
        <p:spPr>
          <a:xfrm>
            <a:off x="640080" y="5440680"/>
            <a:ext cx="10911535" cy="822960"/>
          </a:xfrm>
          <a:prstGeom prst="rect">
            <a:avLst/>
          </a:prstGeom>
          <a:solidFill>
            <a:srgbClr val="141414"/>
          </a:solidFill>
          <a:ln w="12700">
            <a:solidFill>
              <a:srgbClr val="141414"/>
            </a:solidFill>
            <a:prstDash val="solid"/>
          </a:ln>
        </p:spPr>
      </p:sp>
      <p:sp>
        <p:nvSpPr>
          <p:cNvPr id="25" name="Shape 23"/>
          <p:cNvSpPr/>
          <p:nvPr/>
        </p:nvSpPr>
        <p:spPr>
          <a:xfrm>
            <a:off x="640080" y="5440680"/>
            <a:ext cx="128016" cy="822960"/>
          </a:xfrm>
          <a:prstGeom prst="rect">
            <a:avLst/>
          </a:prstGeom>
          <a:solidFill>
            <a:srgbClr val="00B29C"/>
          </a:solidFill>
          <a:ln w="12700">
            <a:solidFill>
              <a:srgbClr val="00B29C"/>
            </a:solidFill>
            <a:prstDash val="solid"/>
          </a:ln>
        </p:spPr>
      </p:sp>
      <p:sp>
        <p:nvSpPr>
          <p:cNvPr id="26" name="Text 24"/>
          <p:cNvSpPr/>
          <p:nvPr/>
        </p:nvSpPr>
        <p:spPr>
          <a:xfrm>
            <a:off x="1005840" y="5577840"/>
            <a:ext cx="7315200" cy="548640"/>
          </a:xfrm>
          <a:prstGeom prst="rect">
            <a:avLst/>
          </a:prstGeom>
          <a:noFill/>
          <a:ln/>
        </p:spPr>
        <p:txBody>
          <a:bodyPr wrap="square" lIns="0" tIns="0" rIns="0" bIns="0" rtlCol="0" anchor="ctr"/>
          <a:lstStyle/>
          <a:p>
            <a:pPr indent="0" marL="0">
              <a:buNone/>
            </a:pPr>
            <a:r>
              <a:rPr lang="en-US" sz="1400" spc="100" kern="0" dirty="0">
                <a:solidFill>
                  <a:srgbClr val="A8A29A"/>
                </a:solidFill>
                <a:latin typeface="Arial" pitchFamily="34" charset="0"/>
                <a:ea typeface="Arial" pitchFamily="34" charset="-122"/>
                <a:cs typeface="Arial" pitchFamily="34" charset="-120"/>
              </a:rPr>
              <a:t>PROJECT INVESTMENT  ·  TOTAL FOR ALL FOUR STEPS</a:t>
            </a:r>
            <a:endParaRPr lang="en-US" sz="1400" dirty="0"/>
          </a:p>
        </p:txBody>
      </p:sp>
      <p:sp>
        <p:nvSpPr>
          <p:cNvPr id="27" name="Text 25"/>
          <p:cNvSpPr/>
          <p:nvPr/>
        </p:nvSpPr>
        <p:spPr>
          <a:xfrm>
            <a:off x="9174175" y="5532120"/>
            <a:ext cx="2194560" cy="640080"/>
          </a:xfrm>
          <a:prstGeom prst="rect">
            <a:avLst/>
          </a:prstGeom>
          <a:noFill/>
          <a:ln/>
        </p:spPr>
        <p:txBody>
          <a:bodyPr wrap="square" lIns="0" tIns="0" rIns="0" bIns="0" rtlCol="0" anchor="ctr"/>
          <a:lstStyle/>
          <a:p>
            <a:pPr algn="r" indent="0" marL="0">
              <a:buNone/>
            </a:pPr>
            <a:r>
              <a:rPr lang="en-US" sz="3400" dirty="0">
                <a:solidFill>
                  <a:srgbClr val="FFFFFF"/>
                </a:solidFill>
                <a:latin typeface="Georgia" pitchFamily="34" charset="0"/>
                <a:ea typeface="Georgia" pitchFamily="34" charset="-122"/>
                <a:cs typeface="Georgia" pitchFamily="34" charset="-120"/>
              </a:rPr>
              <a:t>$4,850</a:t>
            </a:r>
            <a:endParaRPr lang="en-US" sz="3400" dirty="0"/>
          </a:p>
        </p:txBody>
      </p:sp>
      <p:sp>
        <p:nvSpPr>
          <p:cNvPr id="28" name="Shape 26"/>
          <p:cNvSpPr/>
          <p:nvPr/>
        </p:nvSpPr>
        <p:spPr>
          <a:xfrm>
            <a:off x="0" y="6583680"/>
            <a:ext cx="2438339" cy="274320"/>
          </a:xfrm>
          <a:prstGeom prst="rect">
            <a:avLst/>
          </a:prstGeom>
          <a:solidFill>
            <a:srgbClr val="D66157"/>
          </a:solidFill>
          <a:ln w="12700">
            <a:solidFill>
              <a:srgbClr val="D66157"/>
            </a:solidFill>
            <a:prstDash val="solid"/>
          </a:ln>
        </p:spPr>
      </p:sp>
      <p:sp>
        <p:nvSpPr>
          <p:cNvPr id="29" name="Shape 27"/>
          <p:cNvSpPr/>
          <p:nvPr/>
        </p:nvSpPr>
        <p:spPr>
          <a:xfrm>
            <a:off x="2438339" y="6583680"/>
            <a:ext cx="2438339" cy="274320"/>
          </a:xfrm>
          <a:prstGeom prst="rect">
            <a:avLst/>
          </a:prstGeom>
          <a:solidFill>
            <a:srgbClr val="9F71AF"/>
          </a:solidFill>
          <a:ln w="12700">
            <a:solidFill>
              <a:srgbClr val="9F71AF"/>
            </a:solidFill>
            <a:prstDash val="solid"/>
          </a:ln>
        </p:spPr>
      </p:sp>
      <p:sp>
        <p:nvSpPr>
          <p:cNvPr id="30" name="Shape 28"/>
          <p:cNvSpPr/>
          <p:nvPr/>
        </p:nvSpPr>
        <p:spPr>
          <a:xfrm>
            <a:off x="4876678" y="6583680"/>
            <a:ext cx="2438339" cy="274320"/>
          </a:xfrm>
          <a:prstGeom prst="rect">
            <a:avLst/>
          </a:prstGeom>
          <a:solidFill>
            <a:srgbClr val="00B29C"/>
          </a:solidFill>
          <a:ln w="12700">
            <a:solidFill>
              <a:srgbClr val="00B29C"/>
            </a:solidFill>
            <a:prstDash val="solid"/>
          </a:ln>
        </p:spPr>
      </p:sp>
      <p:sp>
        <p:nvSpPr>
          <p:cNvPr id="31" name="Shape 29"/>
          <p:cNvSpPr/>
          <p:nvPr/>
        </p:nvSpPr>
        <p:spPr>
          <a:xfrm>
            <a:off x="7315017" y="6583680"/>
            <a:ext cx="2438339" cy="274320"/>
          </a:xfrm>
          <a:prstGeom prst="rect">
            <a:avLst/>
          </a:prstGeom>
          <a:solidFill>
            <a:srgbClr val="FF7BAD"/>
          </a:solidFill>
          <a:ln w="12700">
            <a:solidFill>
              <a:srgbClr val="FF7BAD"/>
            </a:solidFill>
            <a:prstDash val="solid"/>
          </a:ln>
        </p:spPr>
      </p:sp>
      <p:sp>
        <p:nvSpPr>
          <p:cNvPr id="32" name="Shape 30"/>
          <p:cNvSpPr/>
          <p:nvPr/>
        </p:nvSpPr>
        <p:spPr>
          <a:xfrm>
            <a:off x="9753356" y="6583680"/>
            <a:ext cx="2438339" cy="274320"/>
          </a:xfrm>
          <a:prstGeom prst="rect">
            <a:avLst/>
          </a:prstGeom>
          <a:solidFill>
            <a:srgbClr val="FBAD25"/>
          </a:solidFill>
          <a:ln w="12700">
            <a:solidFill>
              <a:srgbClr val="FBAD25"/>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4"/>
        </a:solidFill>
      </p:bgPr>
    </p:bg>
    <p:spTree>
      <p:nvGrpSpPr>
        <p:cNvPr id="1" name=""/>
        <p:cNvGrpSpPr/>
        <p:nvPr/>
      </p:nvGrpSpPr>
      <p:grpSpPr>
        <a:xfrm>
          <a:off x="0" y="0"/>
          <a:ext cx="0" cy="0"/>
          <a:chOff x="0" y="0"/>
          <a:chExt cx="0" cy="0"/>
        </a:xfrm>
      </p:grpSpPr>
      <p:pic>
        <p:nvPicPr>
          <p:cNvPr id="2" name="Image 0" descr="GHOSTSignal cloudmark">    </p:cNvPr>
          <p:cNvPicPr>
            <a:picLocks noChangeAspect="1"/>
          </p:cNvPicPr>
          <p:nvPr/>
        </p:nvPicPr>
        <p:blipFill>
          <a:blip r:embed="rId1"/>
          <a:stretch>
            <a:fillRect/>
          </a:stretch>
        </p:blipFill>
        <p:spPr>
          <a:xfrm>
            <a:off x="10545775" y="457200"/>
            <a:ext cx="1005840" cy="1005840"/>
          </a:xfrm>
          <a:prstGeom prst="rect">
            <a:avLst/>
          </a:prstGeom>
        </p:spPr>
      </p:pic>
      <p:sp>
        <p:nvSpPr>
          <p:cNvPr id="3" name="Text 0"/>
          <p:cNvSpPr/>
          <p:nvPr/>
        </p:nvSpPr>
        <p:spPr>
          <a:xfrm>
            <a:off x="640080" y="1371600"/>
            <a:ext cx="9144000" cy="320040"/>
          </a:xfrm>
          <a:prstGeom prst="rect">
            <a:avLst/>
          </a:prstGeom>
          <a:noFill/>
          <a:ln/>
        </p:spPr>
        <p:txBody>
          <a:bodyPr wrap="square" lIns="0" tIns="0" rIns="0" bIns="0" rtlCol="0" anchor="ctr"/>
          <a:lstStyle/>
          <a:p>
            <a:pPr indent="0" marL="0">
              <a:buNone/>
            </a:pPr>
            <a:r>
              <a:rPr lang="en-US" sz="1400" spc="400" kern="0" dirty="0">
                <a:solidFill>
                  <a:srgbClr val="00B29C"/>
                </a:solidFill>
                <a:latin typeface="Arial" pitchFamily="34" charset="0"/>
                <a:ea typeface="Arial" pitchFamily="34" charset="-122"/>
                <a:cs typeface="Arial" pitchFamily="34" charset="-120"/>
              </a:rPr>
              <a:t>NEXT STEPS</a:t>
            </a:r>
            <a:endParaRPr lang="en-US" sz="1400" dirty="0"/>
          </a:p>
        </p:txBody>
      </p:sp>
      <p:sp>
        <p:nvSpPr>
          <p:cNvPr id="4" name="Text 1"/>
          <p:cNvSpPr/>
          <p:nvPr/>
        </p:nvSpPr>
        <p:spPr>
          <a:xfrm>
            <a:off x="640080" y="1874520"/>
            <a:ext cx="10058400" cy="731520"/>
          </a:xfrm>
          <a:prstGeom prst="rect">
            <a:avLst/>
          </a:prstGeom>
          <a:noFill/>
          <a:ln/>
        </p:spPr>
        <p:txBody>
          <a:bodyPr wrap="square" lIns="0" tIns="0" rIns="0" bIns="0" rtlCol="0" anchor="ctr"/>
          <a:lstStyle/>
          <a:p>
            <a:pPr indent="0" marL="0">
              <a:buNone/>
            </a:pPr>
            <a:r>
              <a:rPr lang="en-US" sz="4800" dirty="0">
                <a:solidFill>
                  <a:srgbClr val="FFFFFF"/>
                </a:solidFill>
                <a:latin typeface="Georgia" pitchFamily="34" charset="0"/>
                <a:ea typeface="Georgia" pitchFamily="34" charset="-122"/>
                <a:cs typeface="Georgia" pitchFamily="34" charset="-120"/>
              </a:rPr>
              <a:t>Ready when you are.</a:t>
            </a:r>
            <a:endParaRPr lang="en-US" sz="4800" dirty="0"/>
          </a:p>
        </p:txBody>
      </p:sp>
      <p:sp>
        <p:nvSpPr>
          <p:cNvPr id="5" name="Text 2"/>
          <p:cNvSpPr/>
          <p:nvPr/>
        </p:nvSpPr>
        <p:spPr>
          <a:xfrm>
            <a:off x="640080" y="2880360"/>
            <a:ext cx="9601200" cy="1097280"/>
          </a:xfrm>
          <a:prstGeom prst="rect">
            <a:avLst/>
          </a:prstGeom>
          <a:noFill/>
          <a:ln/>
        </p:spPr>
        <p:txBody>
          <a:bodyPr wrap="square" lIns="0" tIns="0" rIns="0" bIns="0" rtlCol="0" anchor="ctr"/>
          <a:lstStyle/>
          <a:p>
            <a:pPr indent="0" marL="0">
              <a:buNone/>
            </a:pPr>
            <a:r>
              <a:rPr lang="en-US" sz="2000" dirty="0">
                <a:solidFill>
                  <a:srgbClr val="C9C3BB"/>
                </a:solidFill>
                <a:latin typeface="Arial" pitchFamily="34" charset="0"/>
                <a:ea typeface="Arial" pitchFamily="34" charset="-122"/>
                <a:cs typeface="Arial" pitchFamily="34" charset="-120"/>
              </a:rPr>
              <a:t>Thanks again for the opportunity to make this proposal. With questions or to get started, simply email Jeremy at jeremy@ghostsignal.cloud</a:t>
            </a:r>
            <a:endParaRPr lang="en-US" sz="2000" dirty="0"/>
          </a:p>
        </p:txBody>
      </p:sp>
      <p:sp>
        <p:nvSpPr>
          <p:cNvPr id="6" name="Text 3"/>
          <p:cNvSpPr/>
          <p:nvPr/>
        </p:nvSpPr>
        <p:spPr>
          <a:xfrm>
            <a:off x="640080" y="4297680"/>
            <a:ext cx="9144000" cy="457200"/>
          </a:xfrm>
          <a:prstGeom prst="rect">
            <a:avLst/>
          </a:prstGeom>
          <a:noFill/>
          <a:ln/>
        </p:spPr>
        <p:txBody>
          <a:bodyPr wrap="square" lIns="0" tIns="0" rIns="0" bIns="0" rtlCol="0" anchor="ctr"/>
          <a:lstStyle/>
          <a:p>
            <a:pPr indent="0" marL="0">
              <a:buNone/>
            </a:pPr>
            <a:r>
              <a:rPr lang="en-US" sz="2400" dirty="0">
                <a:solidFill>
                  <a:srgbClr val="FBAD25"/>
                </a:solidFill>
                <a:latin typeface="Arial" pitchFamily="34" charset="0"/>
                <a:ea typeface="Arial" pitchFamily="34" charset="-122"/>
                <a:cs typeface="Arial" pitchFamily="34" charset="-120"/>
              </a:rPr>
              <a:t>jeremy@ghostsignal.cloud</a:t>
            </a:r>
            <a:endParaRPr lang="en-US" sz="2400" dirty="0"/>
          </a:p>
        </p:txBody>
      </p:sp>
      <p:sp>
        <p:nvSpPr>
          <p:cNvPr id="7" name="Text 4"/>
          <p:cNvSpPr/>
          <p:nvPr/>
        </p:nvSpPr>
        <p:spPr>
          <a:xfrm>
            <a:off x="640080" y="4892040"/>
            <a:ext cx="9144000" cy="365760"/>
          </a:xfrm>
          <a:prstGeom prst="rect">
            <a:avLst/>
          </a:prstGeom>
          <a:noFill/>
          <a:ln/>
        </p:spPr>
        <p:txBody>
          <a:bodyPr wrap="square" lIns="0" tIns="0" rIns="0" bIns="0" rtlCol="0" anchor="ctr"/>
          <a:lstStyle/>
          <a:p>
            <a:pPr indent="0" marL="0">
              <a:buNone/>
            </a:pPr>
            <a:r>
              <a:rPr lang="en-US" sz="1800" i="1" dirty="0">
                <a:solidFill>
                  <a:srgbClr val="8A847C"/>
                </a:solidFill>
                <a:latin typeface="Georgia" pitchFamily="34" charset="0"/>
                <a:ea typeface="Georgia" pitchFamily="34" charset="-122"/>
                <a:cs typeface="Georgia" pitchFamily="34" charset="-120"/>
              </a:rPr>
              <a:t>Welcome to the Signal.</a:t>
            </a:r>
            <a:endParaRPr lang="en-US" sz="1800" dirty="0"/>
          </a:p>
        </p:txBody>
      </p:sp>
      <p:sp>
        <p:nvSpPr>
          <p:cNvPr id="8" name="Shape 5"/>
          <p:cNvSpPr/>
          <p:nvPr/>
        </p:nvSpPr>
        <p:spPr>
          <a:xfrm>
            <a:off x="0" y="6583680"/>
            <a:ext cx="2438339" cy="274320"/>
          </a:xfrm>
          <a:prstGeom prst="rect">
            <a:avLst/>
          </a:prstGeom>
          <a:solidFill>
            <a:srgbClr val="D66157"/>
          </a:solidFill>
          <a:ln w="12700">
            <a:solidFill>
              <a:srgbClr val="D66157"/>
            </a:solidFill>
            <a:prstDash val="solid"/>
          </a:ln>
        </p:spPr>
      </p:sp>
      <p:sp>
        <p:nvSpPr>
          <p:cNvPr id="9" name="Shape 6"/>
          <p:cNvSpPr/>
          <p:nvPr/>
        </p:nvSpPr>
        <p:spPr>
          <a:xfrm>
            <a:off x="2438339" y="6583680"/>
            <a:ext cx="2438339" cy="274320"/>
          </a:xfrm>
          <a:prstGeom prst="rect">
            <a:avLst/>
          </a:prstGeom>
          <a:solidFill>
            <a:srgbClr val="9F71AF"/>
          </a:solidFill>
          <a:ln w="12700">
            <a:solidFill>
              <a:srgbClr val="9F71AF"/>
            </a:solidFill>
            <a:prstDash val="solid"/>
          </a:ln>
        </p:spPr>
      </p:sp>
      <p:sp>
        <p:nvSpPr>
          <p:cNvPr id="10" name="Shape 7"/>
          <p:cNvSpPr/>
          <p:nvPr/>
        </p:nvSpPr>
        <p:spPr>
          <a:xfrm>
            <a:off x="4876678" y="6583680"/>
            <a:ext cx="2438339" cy="274320"/>
          </a:xfrm>
          <a:prstGeom prst="rect">
            <a:avLst/>
          </a:prstGeom>
          <a:solidFill>
            <a:srgbClr val="00B29C"/>
          </a:solidFill>
          <a:ln w="12700">
            <a:solidFill>
              <a:srgbClr val="00B29C"/>
            </a:solidFill>
            <a:prstDash val="solid"/>
          </a:ln>
        </p:spPr>
      </p:sp>
      <p:sp>
        <p:nvSpPr>
          <p:cNvPr id="11" name="Shape 8"/>
          <p:cNvSpPr/>
          <p:nvPr/>
        </p:nvSpPr>
        <p:spPr>
          <a:xfrm>
            <a:off x="7315017" y="6583680"/>
            <a:ext cx="2438339" cy="274320"/>
          </a:xfrm>
          <a:prstGeom prst="rect">
            <a:avLst/>
          </a:prstGeom>
          <a:solidFill>
            <a:srgbClr val="FF7BAD"/>
          </a:solidFill>
          <a:ln w="12700">
            <a:solidFill>
              <a:srgbClr val="FF7BAD"/>
            </a:solidFill>
            <a:prstDash val="solid"/>
          </a:ln>
        </p:spPr>
      </p:sp>
      <p:sp>
        <p:nvSpPr>
          <p:cNvPr id="12" name="Shape 9"/>
          <p:cNvSpPr/>
          <p:nvPr/>
        </p:nvSpPr>
        <p:spPr>
          <a:xfrm>
            <a:off x="9753356" y="6583680"/>
            <a:ext cx="2438339" cy="274320"/>
          </a:xfrm>
          <a:prstGeom prst="rect">
            <a:avLst/>
          </a:prstGeom>
          <a:solidFill>
            <a:srgbClr val="FBAD25"/>
          </a:solidFill>
          <a:ln w="12700">
            <a:solidFill>
              <a:srgbClr val="FBAD25"/>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Holly Mackle — Brand Proposal V1</dc:title>
  <dc:subject>Brand strategy, visual identity, website + platform assets</dc:subject>
  <dc:creator>GHOSTSignal</dc:creator>
  <cp:lastModifiedBy>GHOSTSignal</cp:lastModifiedBy>
  <cp:revision>1</cp:revision>
  <dcterms:created xsi:type="dcterms:W3CDTF">2026-09-15T14:48:55Z</dcterms:created>
  <dcterms:modified xsi:type="dcterms:W3CDTF">2026-09-15T14:48:55Z</dcterms:modified>
</cp:coreProperties>
</file>